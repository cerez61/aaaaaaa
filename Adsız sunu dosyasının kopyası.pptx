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2" Type="http://schemas.openxmlformats.org/officeDocument/2006/relationships/slide" Target="slides/slide67.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ef44485b8a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ef44485b8a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f1e7fd287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ef1e7fd287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ef1e7fd287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ef1e7fd287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f1e7fd287_0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f1e7fd287_0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f1e7fd287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f1e7fd287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ef1e7fd287_0_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ef1e7fd287_0_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ef1e7fd287_0_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ef1e7fd287_0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ef1e7fd287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ef1e7fd287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ef1e7fd287_0_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ef1e7fd287_0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f1e7fd287_0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ef1e7fd287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ef1e7fd287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ef1e7fd287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ef1e7fd287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ef1e7fd287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f1e7fd287_0_6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ef1e7fd287_0_6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f1e7fd287_0_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ef1e7fd287_0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ef1e7fd287_0_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ef1e7fd287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f1e7fd287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ef1e7fd287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ef1e7fd287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ef1e7fd287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ef1e7fd287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ef1e7fd287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f1e7fd287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ef1e7fd287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ef1e7fd287_0_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ef1e7fd287_0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ef26d6317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ef26d6317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ef26d6317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ef26d6317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ef26d6317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ef26d6317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ef26d631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ef26d631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ef26d6317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ef26d6317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ef26d6317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ef26d6317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ef26d6317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ef26d63178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ef26d63178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ef26d63178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ef26d63178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ef26d63178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ef26d63178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ef26d6317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ef26d63178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ef26d63178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ef26d63178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ef26d63178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ef44485b8a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ef44485b8a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ef44485b8a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ef44485b8a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ef26d63178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ef26d63178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ef26d63178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ef26d63178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ef26d63178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ef26d63178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ef26d63178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ef26d63178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ef26d63178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ef26d63178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ef26d63178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ef26d63178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ef26d63178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ef26d63178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ef26d63178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ef26d63178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ef26d63178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ef26d63178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ef26d63178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ef26d63178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ef26d63178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ef26d63178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ef26d63178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ef26d63178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ef30e02ad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ef30e02ad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ef30e02ad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ef30e02ad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ef30e02ad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ef30e02ad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ef30e02ad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ef30e02ad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ef44485b8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ef44485b8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ef44485b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ef44485b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ef44485b8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ef44485b8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ef44485b8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ef44485b8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ef44485b8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ef44485b8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ef44485b8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ef44485b8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ef44485b8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ef44485b8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ef44485b8a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ef44485b8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ef44485b8a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ef44485b8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ef44485b8a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ef44485b8a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ef44485b8a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ef44485b8a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ef44485b8a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ef44485b8a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ef44485b8a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ef44485b8a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ef44485b8a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ef44485b8a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ef44485b8a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ef44485b8a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ef44485b8a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ef44485b8a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ef44485b8a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ef44485b8a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f21c3017a_17_0)">
  <p:cSld name="Generated (g3ef21c3017a_17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5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5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5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51.png"/><Relationship Id="rId4" Type="http://schemas.openxmlformats.org/officeDocument/2006/relationships/image" Target="../media/image3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5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4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4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4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4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45.png"/><Relationship Id="rId4" Type="http://schemas.openxmlformats.org/officeDocument/2006/relationships/image" Target="../media/image4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54.png"/><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grpSp>
        <p:nvGrpSpPr>
          <p:cNvPr id="55" name="Google Shape;55;p14"/>
          <p:cNvGrpSpPr/>
          <p:nvPr/>
        </p:nvGrpSpPr>
        <p:grpSpPr>
          <a:xfrm>
            <a:off x="63981" y="83950"/>
            <a:ext cx="9010049" cy="2318400"/>
            <a:chOff x="2528956" y="476250"/>
            <a:chExt cx="4286417" cy="2318400"/>
          </a:xfrm>
        </p:grpSpPr>
        <p:sp>
          <p:nvSpPr>
            <p:cNvPr id="56" name="Google Shape;56;p14"/>
            <p:cNvSpPr txBox="1"/>
            <p:nvPr/>
          </p:nvSpPr>
          <p:spPr>
            <a:xfrm>
              <a:off x="2528973" y="476250"/>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Projenin Temeli</a:t>
              </a:r>
              <a:endParaRPr b="1" sz="2380">
                <a:solidFill>
                  <a:srgbClr val="E91E63"/>
                </a:solidFill>
                <a:latin typeface="Courier New"/>
                <a:ea typeface="Courier New"/>
                <a:cs typeface="Courier New"/>
                <a:sym typeface="Courier New"/>
              </a:endParaRPr>
            </a:p>
          </p:txBody>
        </p:sp>
        <p:sp>
          <p:nvSpPr>
            <p:cNvPr id="57" name="Google Shape;57;p14"/>
            <p:cNvSpPr txBox="1"/>
            <p:nvPr/>
          </p:nvSpPr>
          <p:spPr>
            <a:xfrm>
              <a:off x="2528956" y="1200750"/>
              <a:ext cx="4286400" cy="1593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lnSpc>
                  <a:spcPct val="100000"/>
                </a:lnSpc>
                <a:spcBef>
                  <a:spcPts val="0"/>
                </a:spcBef>
                <a:spcAft>
                  <a:spcPts val="1125"/>
                </a:spcAft>
                <a:buNone/>
              </a:pPr>
              <a:r>
                <a:rPr b="1" lang="tr">
                  <a:solidFill>
                    <a:srgbClr val="3C4043"/>
                  </a:solidFill>
                  <a:latin typeface="Arial"/>
                  <a:ea typeface="Arial"/>
                  <a:cs typeface="Arial"/>
                  <a:sym typeface="Arial"/>
                </a:rPr>
                <a:t>Proje Vanilla javascript ile yapılmıştır. Herhangi bir kod kütüphanesi kullanılmamıştır. ‘webgl’ canvas api’si kullanılarak görselleştirilmiştir.</a:t>
              </a:r>
              <a:endParaRPr b="1">
                <a:solidFill>
                  <a:srgbClr val="3C4043"/>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 name="Shape 61"/>
        <p:cNvGrpSpPr/>
        <p:nvPr/>
      </p:nvGrpSpPr>
      <p:grpSpPr>
        <a:xfrm>
          <a:off x="0" y="0"/>
          <a:ext cx="0" cy="0"/>
          <a:chOff x="0" y="0"/>
          <a:chExt cx="0" cy="0"/>
        </a:xfrm>
      </p:grpSpPr>
      <p:grpSp>
        <p:nvGrpSpPr>
          <p:cNvPr id="62" name="Google Shape;62;p15"/>
          <p:cNvGrpSpPr/>
          <p:nvPr/>
        </p:nvGrpSpPr>
        <p:grpSpPr>
          <a:xfrm>
            <a:off x="192000" y="377251"/>
            <a:ext cx="4286400" cy="1635752"/>
            <a:chOff x="381000" y="359250"/>
            <a:chExt cx="4286400" cy="1833597"/>
          </a:xfrm>
        </p:grpSpPr>
        <p:sp>
          <p:nvSpPr>
            <p:cNvPr id="63" name="Google Shape;63;p15"/>
            <p:cNvSpPr txBox="1"/>
            <p:nvPr/>
          </p:nvSpPr>
          <p:spPr>
            <a:xfrm>
              <a:off x="381000" y="359250"/>
              <a:ext cx="4286400" cy="73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requestAnimationFrame</a:t>
              </a:r>
              <a:r>
                <a:rPr b="1" lang="tr" sz="2380">
                  <a:solidFill>
                    <a:srgbClr val="E91E63"/>
                  </a:solidFill>
                  <a:latin typeface="Courier New"/>
                  <a:ea typeface="Courier New"/>
                  <a:cs typeface="Courier New"/>
                  <a:sym typeface="Courier New"/>
                </a:rPr>
                <a:t>()</a:t>
              </a:r>
              <a:endParaRPr b="1" sz="2380">
                <a:solidFill>
                  <a:srgbClr val="E91E63"/>
                </a:solidFill>
                <a:latin typeface="Courier New"/>
                <a:ea typeface="Courier New"/>
                <a:cs typeface="Courier New"/>
                <a:sym typeface="Courier New"/>
              </a:endParaRPr>
            </a:p>
          </p:txBody>
        </p:sp>
        <p:sp>
          <p:nvSpPr>
            <p:cNvPr id="64" name="Google Shape;64;p15"/>
            <p:cNvSpPr txBox="1"/>
            <p:nvPr/>
          </p:nvSpPr>
          <p:spPr>
            <a:xfrm>
              <a:off x="381000" y="1257747"/>
              <a:ext cx="4286400" cy="935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requestAnimationFrame() bir pencere(window) metotudur ve parametre olarak girilen callback fonksiyonu ekranın yenileme hızında tekrar ve tekrar döndürür.</a:t>
              </a:r>
              <a:endParaRPr b="1">
                <a:solidFill>
                  <a:srgbClr val="3C4043"/>
                </a:solidFill>
                <a:latin typeface="Arial"/>
                <a:ea typeface="Arial"/>
                <a:cs typeface="Arial"/>
                <a:sym typeface="Arial"/>
              </a:endParaRPr>
            </a:p>
          </p:txBody>
        </p:sp>
      </p:grpSp>
      <p:pic>
        <p:nvPicPr>
          <p:cNvPr id="65" name="Google Shape;65;p15"/>
          <p:cNvPicPr preferRelativeResize="0"/>
          <p:nvPr/>
        </p:nvPicPr>
        <p:blipFill rotWithShape="1">
          <a:blip r:embed="rId4">
            <a:alphaModFix/>
          </a:blip>
          <a:srcRect b="5877" l="4865" r="4865" t="5885"/>
          <a:stretch/>
        </p:blipFill>
        <p:spPr>
          <a:xfrm>
            <a:off x="5007900" y="428550"/>
            <a:ext cx="3810000" cy="4286400"/>
          </a:xfrm>
          <a:prstGeom prst="roundRect">
            <a:avLst>
              <a:gd fmla="val 2500" name="adj"/>
            </a:avLst>
          </a:prstGeom>
          <a:noFill/>
          <a:ln>
            <a:noFill/>
          </a:ln>
        </p:spPr>
      </p:pic>
      <p:grpSp>
        <p:nvGrpSpPr>
          <p:cNvPr id="66" name="Google Shape;66;p15"/>
          <p:cNvGrpSpPr/>
          <p:nvPr/>
        </p:nvGrpSpPr>
        <p:grpSpPr>
          <a:xfrm>
            <a:off x="192000" y="2170425"/>
            <a:ext cx="4286400" cy="2245500"/>
            <a:chOff x="381000" y="476250"/>
            <a:chExt cx="4286400" cy="2245500"/>
          </a:xfrm>
        </p:grpSpPr>
        <p:sp>
          <p:nvSpPr>
            <p:cNvPr id="67" name="Google Shape;67;p15"/>
            <p:cNvSpPr txBox="1"/>
            <p:nvPr/>
          </p:nvSpPr>
          <p:spPr>
            <a:xfrm>
              <a:off x="381000" y="476250"/>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DeltaTime Sınıfı</a:t>
              </a:r>
              <a:endParaRPr b="1" sz="2380">
                <a:solidFill>
                  <a:srgbClr val="E91E63"/>
                </a:solidFill>
                <a:latin typeface="Courier New"/>
                <a:ea typeface="Courier New"/>
                <a:cs typeface="Courier New"/>
                <a:sym typeface="Courier New"/>
              </a:endParaRPr>
            </a:p>
          </p:txBody>
        </p:sp>
        <p:sp>
          <p:nvSpPr>
            <p:cNvPr id="68" name="Google Shape;68;p15"/>
            <p:cNvSpPr txBox="1"/>
            <p:nvPr/>
          </p:nvSpPr>
          <p:spPr>
            <a:xfrm>
              <a:off x="381000" y="1200750"/>
              <a:ext cx="4286400" cy="152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animate() fonksiyonuna başlangıç değeri olarak 0 giriliyor. Bu değer saniye cinsinden geçen gerçek süreyi tutuyor. Tutulan değer DeltaTime sınıfının update metotuna parametre olarak giriliyor. Burada yenilemeler arasındaki süre farkı hesaplanıyor.</a:t>
              </a:r>
              <a:endParaRPr b="1">
                <a:solidFill>
                  <a:srgbClr val="3C4043"/>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grpSp>
        <p:nvGrpSpPr>
          <p:cNvPr id="73" name="Google Shape;73;p16"/>
          <p:cNvGrpSpPr/>
          <p:nvPr/>
        </p:nvGrpSpPr>
        <p:grpSpPr>
          <a:xfrm>
            <a:off x="118975" y="2663263"/>
            <a:ext cx="4033074" cy="2245500"/>
            <a:chOff x="381000" y="476250"/>
            <a:chExt cx="4286400" cy="2245500"/>
          </a:xfrm>
        </p:grpSpPr>
        <p:sp>
          <p:nvSpPr>
            <p:cNvPr id="74" name="Google Shape;74;p16"/>
            <p:cNvSpPr txBox="1"/>
            <p:nvPr/>
          </p:nvSpPr>
          <p:spPr>
            <a:xfrm>
              <a:off x="381000" y="476250"/>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get</a:t>
              </a:r>
              <a:r>
                <a:rPr b="1" lang="tr" sz="2200">
                  <a:solidFill>
                    <a:srgbClr val="E91E63"/>
                  </a:solidFill>
                  <a:latin typeface="Courier New"/>
                  <a:ea typeface="Courier New"/>
                  <a:cs typeface="Courier New"/>
                  <a:sym typeface="Courier New"/>
                </a:rPr>
                <a:t>()</a:t>
              </a:r>
              <a:endParaRPr b="1" sz="2380">
                <a:solidFill>
                  <a:srgbClr val="E91E63"/>
                </a:solidFill>
                <a:latin typeface="Courier New"/>
                <a:ea typeface="Courier New"/>
                <a:cs typeface="Courier New"/>
                <a:sym typeface="Courier New"/>
              </a:endParaRPr>
            </a:p>
          </p:txBody>
        </p:sp>
        <p:sp>
          <p:nvSpPr>
            <p:cNvPr id="75" name="Google Shape;75;p16"/>
            <p:cNvSpPr txBox="1"/>
            <p:nvPr/>
          </p:nvSpPr>
          <p:spPr>
            <a:xfrm>
              <a:off x="381000" y="1200750"/>
              <a:ext cx="4286400" cy="152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Hesaplanan süreye ulaşılmak istendiğinde get() metotu çağrılır. Bu metot delta süresini return anahtarı ile geri döndürür.</a:t>
              </a:r>
              <a:endParaRPr b="1">
                <a:solidFill>
                  <a:srgbClr val="3C4043"/>
                </a:solidFill>
                <a:latin typeface="Arial"/>
                <a:ea typeface="Arial"/>
                <a:cs typeface="Arial"/>
                <a:sym typeface="Arial"/>
              </a:endParaRPr>
            </a:p>
          </p:txBody>
        </p:sp>
      </p:grpSp>
      <p:pic>
        <p:nvPicPr>
          <p:cNvPr id="76" name="Google Shape;76;p16" title="DeltaTime.png"/>
          <p:cNvPicPr preferRelativeResize="0"/>
          <p:nvPr/>
        </p:nvPicPr>
        <p:blipFill>
          <a:blip r:embed="rId3">
            <a:alphaModFix/>
          </a:blip>
          <a:stretch>
            <a:fillRect/>
          </a:stretch>
        </p:blipFill>
        <p:spPr>
          <a:xfrm>
            <a:off x="4289300" y="896700"/>
            <a:ext cx="4720600" cy="3350099"/>
          </a:xfrm>
          <a:prstGeom prst="rect">
            <a:avLst/>
          </a:prstGeom>
          <a:noFill/>
          <a:ln>
            <a:noFill/>
          </a:ln>
        </p:spPr>
      </p:pic>
      <p:grpSp>
        <p:nvGrpSpPr>
          <p:cNvPr id="77" name="Google Shape;77;p16"/>
          <p:cNvGrpSpPr/>
          <p:nvPr/>
        </p:nvGrpSpPr>
        <p:grpSpPr>
          <a:xfrm>
            <a:off x="118975" y="234738"/>
            <a:ext cx="4033077" cy="2320200"/>
            <a:chOff x="380996" y="476250"/>
            <a:chExt cx="4286404" cy="2320200"/>
          </a:xfrm>
        </p:grpSpPr>
        <p:sp>
          <p:nvSpPr>
            <p:cNvPr id="78" name="Google Shape;78;p16"/>
            <p:cNvSpPr txBox="1"/>
            <p:nvPr/>
          </p:nvSpPr>
          <p:spPr>
            <a:xfrm>
              <a:off x="381000" y="476250"/>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update() </a:t>
              </a:r>
              <a:endParaRPr b="1" sz="2380">
                <a:solidFill>
                  <a:srgbClr val="E91E63"/>
                </a:solidFill>
                <a:latin typeface="Courier New"/>
                <a:ea typeface="Courier New"/>
                <a:cs typeface="Courier New"/>
                <a:sym typeface="Courier New"/>
              </a:endParaRPr>
            </a:p>
          </p:txBody>
        </p:sp>
        <p:sp>
          <p:nvSpPr>
            <p:cNvPr id="79" name="Google Shape;79;p16"/>
            <p:cNvSpPr txBox="1"/>
            <p:nvPr/>
          </p:nvSpPr>
          <p:spPr>
            <a:xfrm>
              <a:off x="380996" y="1200750"/>
              <a:ext cx="4286400" cy="1595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lnSpc>
                  <a:spcPct val="100000"/>
                </a:lnSpc>
                <a:spcBef>
                  <a:spcPts val="0"/>
                </a:spcBef>
                <a:spcAft>
                  <a:spcPts val="1125"/>
                </a:spcAft>
                <a:buNone/>
              </a:pPr>
              <a:r>
                <a:rPr b="1" lang="tr">
                  <a:solidFill>
                    <a:srgbClr val="3C4043"/>
                  </a:solidFill>
                  <a:latin typeface="Arial"/>
                  <a:ea typeface="Arial"/>
                  <a:cs typeface="Arial"/>
                  <a:sym typeface="Arial"/>
                </a:rPr>
                <a:t>Anlık süreyi veren timeStamp parametresinden başlangıç değeri 0 olan lastTime parametresi çıkarılır. Sonuç deltaTime değişkeninde tutulur. Son olarak lastTime değişkeninde de anlık süre tutulur. Bu döngü her bir yenilemede gerçekleşir ve yenilemeler arası delta süresini hesaplar.</a:t>
              </a:r>
              <a:endParaRPr b="1">
                <a:solidFill>
                  <a:srgbClr val="3C4043"/>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grpSp>
        <p:nvGrpSpPr>
          <p:cNvPr id="84" name="Google Shape;84;p17"/>
          <p:cNvGrpSpPr/>
          <p:nvPr/>
        </p:nvGrpSpPr>
        <p:grpSpPr>
          <a:xfrm>
            <a:off x="2483312" y="83950"/>
            <a:ext cx="4033077" cy="1068300"/>
            <a:chOff x="2893843" y="476250"/>
            <a:chExt cx="4286404" cy="1068300"/>
          </a:xfrm>
        </p:grpSpPr>
        <p:sp>
          <p:nvSpPr>
            <p:cNvPr id="85" name="Google Shape;85;p17"/>
            <p:cNvSpPr txBox="1"/>
            <p:nvPr/>
          </p:nvSpPr>
          <p:spPr>
            <a:xfrm>
              <a:off x="2893847" y="476250"/>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Game Sınıfı</a:t>
              </a:r>
              <a:endParaRPr b="1" sz="2380">
                <a:solidFill>
                  <a:srgbClr val="E91E63"/>
                </a:solidFill>
                <a:latin typeface="Courier New"/>
                <a:ea typeface="Courier New"/>
                <a:cs typeface="Courier New"/>
                <a:sym typeface="Courier New"/>
              </a:endParaRPr>
            </a:p>
          </p:txBody>
        </p:sp>
        <p:sp>
          <p:nvSpPr>
            <p:cNvPr id="86" name="Google Shape;86;p17"/>
            <p:cNvSpPr txBox="1"/>
            <p:nvPr/>
          </p:nvSpPr>
          <p:spPr>
            <a:xfrm>
              <a:off x="2893843" y="1200750"/>
              <a:ext cx="4286400" cy="34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lnSpc>
                  <a:spcPct val="100000"/>
                </a:lnSpc>
                <a:spcBef>
                  <a:spcPts val="0"/>
                </a:spcBef>
                <a:spcAft>
                  <a:spcPts val="1125"/>
                </a:spcAft>
                <a:buNone/>
              </a:pPr>
              <a:r>
                <a:rPr b="1" lang="tr">
                  <a:solidFill>
                    <a:srgbClr val="3C4043"/>
                  </a:solidFill>
                  <a:latin typeface="Arial"/>
                  <a:ea typeface="Arial"/>
                  <a:cs typeface="Arial"/>
                  <a:sym typeface="Arial"/>
                </a:rPr>
                <a:t>Oyunun bütün yapısının bulunduğu sınıftır. </a:t>
              </a:r>
              <a:endParaRPr b="1">
                <a:solidFill>
                  <a:srgbClr val="3C4043"/>
                </a:solidFill>
                <a:latin typeface="Arial"/>
                <a:ea typeface="Arial"/>
                <a:cs typeface="Arial"/>
                <a:sym typeface="Arial"/>
              </a:endParaRPr>
            </a:p>
          </p:txBody>
        </p:sp>
      </p:grpSp>
      <p:pic>
        <p:nvPicPr>
          <p:cNvPr id="87" name="Google Shape;87;p17" title="gameConstructor.png"/>
          <p:cNvPicPr preferRelativeResize="0"/>
          <p:nvPr/>
        </p:nvPicPr>
        <p:blipFill>
          <a:blip r:embed="rId3">
            <a:alphaModFix/>
          </a:blip>
          <a:stretch>
            <a:fillRect/>
          </a:stretch>
        </p:blipFill>
        <p:spPr>
          <a:xfrm>
            <a:off x="302450" y="1228150"/>
            <a:ext cx="8394798" cy="38113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gameConstructorImport.png"/>
          <p:cNvPicPr preferRelativeResize="0"/>
          <p:nvPr/>
        </p:nvPicPr>
        <p:blipFill>
          <a:blip r:embed="rId3">
            <a:alphaModFix/>
          </a:blip>
          <a:stretch>
            <a:fillRect/>
          </a:stretch>
        </p:blipFill>
        <p:spPr>
          <a:xfrm>
            <a:off x="447100" y="351325"/>
            <a:ext cx="8249801" cy="4313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9"/>
          <p:cNvPicPr preferRelativeResize="0"/>
          <p:nvPr/>
        </p:nvPicPr>
        <p:blipFill rotWithShape="1">
          <a:blip r:embed="rId3">
            <a:alphaModFix/>
          </a:blip>
          <a:srcRect b="5877" l="4865" r="4865" t="5885"/>
          <a:stretch/>
        </p:blipFill>
        <p:spPr>
          <a:xfrm>
            <a:off x="4966150" y="428550"/>
            <a:ext cx="3810000" cy="4286400"/>
          </a:xfrm>
          <a:prstGeom prst="roundRect">
            <a:avLst>
              <a:gd fmla="val 2500" name="adj"/>
            </a:avLst>
          </a:prstGeom>
          <a:noFill/>
          <a:ln>
            <a:noFill/>
          </a:ln>
        </p:spPr>
      </p:pic>
      <p:grpSp>
        <p:nvGrpSpPr>
          <p:cNvPr id="98" name="Google Shape;98;p19"/>
          <p:cNvGrpSpPr/>
          <p:nvPr/>
        </p:nvGrpSpPr>
        <p:grpSpPr>
          <a:xfrm>
            <a:off x="197058" y="428550"/>
            <a:ext cx="4268406" cy="4286525"/>
            <a:chOff x="380991" y="353125"/>
            <a:chExt cx="4286409" cy="4286525"/>
          </a:xfrm>
        </p:grpSpPr>
        <p:sp>
          <p:nvSpPr>
            <p:cNvPr id="99" name="Google Shape;99;p19"/>
            <p:cNvSpPr txBox="1"/>
            <p:nvPr/>
          </p:nvSpPr>
          <p:spPr>
            <a:xfrm>
              <a:off x="381000" y="35312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Game Sınıfı </a:t>
              </a:r>
              <a:r>
                <a:rPr b="1" lang="tr" sz="2200">
                  <a:solidFill>
                    <a:srgbClr val="E91E63"/>
                  </a:solidFill>
                  <a:latin typeface="Courier New"/>
                  <a:ea typeface="Courier New"/>
                  <a:cs typeface="Courier New"/>
                  <a:sym typeface="Courier New"/>
                </a:rPr>
                <a:t>Metotları</a:t>
              </a:r>
              <a:endParaRPr b="1" sz="2380">
                <a:solidFill>
                  <a:srgbClr val="E91E63"/>
                </a:solidFill>
                <a:latin typeface="Courier New"/>
                <a:ea typeface="Courier New"/>
                <a:cs typeface="Courier New"/>
                <a:sym typeface="Courier New"/>
              </a:endParaRPr>
            </a:p>
          </p:txBody>
        </p:sp>
        <p:sp>
          <p:nvSpPr>
            <p:cNvPr id="100" name="Google Shape;100;p19"/>
            <p:cNvSpPr txBox="1"/>
            <p:nvPr/>
          </p:nvSpPr>
          <p:spPr>
            <a:xfrm>
              <a:off x="380991" y="1200750"/>
              <a:ext cx="4286400" cy="343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Bu metotlar her yenilemede çalışırlar. Her bir metotun ayrı bir işlevi vardır. metotların sırası işlevleri itibariyle önemlidir.</a:t>
              </a:r>
              <a:endParaRPr b="1">
                <a:solidFill>
                  <a:srgbClr val="3C4043"/>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20" title="gameInit.png"/>
          <p:cNvPicPr preferRelativeResize="0"/>
          <p:nvPr/>
        </p:nvPicPr>
        <p:blipFill>
          <a:blip r:embed="rId3">
            <a:alphaModFix/>
          </a:blip>
          <a:stretch>
            <a:fillRect/>
          </a:stretch>
        </p:blipFill>
        <p:spPr>
          <a:xfrm>
            <a:off x="3576175" y="152400"/>
            <a:ext cx="5485585" cy="4838700"/>
          </a:xfrm>
          <a:prstGeom prst="rect">
            <a:avLst/>
          </a:prstGeom>
          <a:noFill/>
          <a:ln>
            <a:noFill/>
          </a:ln>
        </p:spPr>
      </p:pic>
      <p:grpSp>
        <p:nvGrpSpPr>
          <p:cNvPr id="106" name="Google Shape;106;p20"/>
          <p:cNvGrpSpPr/>
          <p:nvPr/>
        </p:nvGrpSpPr>
        <p:grpSpPr>
          <a:xfrm>
            <a:off x="123223" y="152400"/>
            <a:ext cx="3306529" cy="2368625"/>
            <a:chOff x="189003" y="992838"/>
            <a:chExt cx="4286400" cy="2368625"/>
          </a:xfrm>
        </p:grpSpPr>
        <p:sp>
          <p:nvSpPr>
            <p:cNvPr id="107" name="Google Shape;107;p20"/>
            <p:cNvSpPr txBox="1"/>
            <p:nvPr/>
          </p:nvSpPr>
          <p:spPr>
            <a:xfrm>
              <a:off x="189003" y="992838"/>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init()</a:t>
              </a:r>
              <a:endParaRPr b="1" sz="2380">
                <a:solidFill>
                  <a:srgbClr val="E91E63"/>
                </a:solidFill>
                <a:latin typeface="Courier New"/>
                <a:ea typeface="Courier New"/>
                <a:cs typeface="Courier New"/>
                <a:sym typeface="Courier New"/>
              </a:endParaRPr>
            </a:p>
          </p:txBody>
        </p:sp>
        <p:sp>
          <p:nvSpPr>
            <p:cNvPr id="108" name="Google Shape;108;p20"/>
            <p:cNvSpPr txBox="1"/>
            <p:nvPr/>
          </p:nvSpPr>
          <p:spPr>
            <a:xfrm>
              <a:off x="189003" y="1840463"/>
              <a:ext cx="4286400" cy="152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Oyun başlatılmadan çalışan bu metot oyunun çalışması için gerekli yüklemeleri yapan metotları içerir. metotların başındaki await anahtarı metotun işini bitirmesini bekler. Ancak ondan sonra yeni satıra geçer.</a:t>
              </a:r>
              <a:endParaRPr b="1">
                <a:solidFill>
                  <a:srgbClr val="3C4043"/>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1" title="gameUpdate.png"/>
          <p:cNvPicPr preferRelativeResize="0"/>
          <p:nvPr/>
        </p:nvPicPr>
        <p:blipFill>
          <a:blip r:embed="rId3">
            <a:alphaModFix/>
          </a:blip>
          <a:stretch>
            <a:fillRect/>
          </a:stretch>
        </p:blipFill>
        <p:spPr>
          <a:xfrm>
            <a:off x="1577637" y="2201275"/>
            <a:ext cx="5988725" cy="2865949"/>
          </a:xfrm>
          <a:prstGeom prst="rect">
            <a:avLst/>
          </a:prstGeom>
          <a:noFill/>
          <a:ln>
            <a:noFill/>
          </a:ln>
        </p:spPr>
      </p:pic>
      <p:grpSp>
        <p:nvGrpSpPr>
          <p:cNvPr id="114" name="Google Shape;114;p21"/>
          <p:cNvGrpSpPr/>
          <p:nvPr/>
        </p:nvGrpSpPr>
        <p:grpSpPr>
          <a:xfrm>
            <a:off x="152457" y="129900"/>
            <a:ext cx="8859566" cy="1466525"/>
            <a:chOff x="3938190" y="292975"/>
            <a:chExt cx="4286403" cy="1466525"/>
          </a:xfrm>
        </p:grpSpPr>
        <p:sp>
          <p:nvSpPr>
            <p:cNvPr id="115" name="Google Shape;115;p21"/>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update()</a:t>
              </a:r>
              <a:endParaRPr b="1" sz="2380">
                <a:solidFill>
                  <a:srgbClr val="E91E63"/>
                </a:solidFill>
                <a:latin typeface="Courier New"/>
                <a:ea typeface="Courier New"/>
                <a:cs typeface="Courier New"/>
                <a:sym typeface="Courier New"/>
              </a:endParaRPr>
            </a:p>
          </p:txBody>
        </p:sp>
        <p:sp>
          <p:nvSpPr>
            <p:cNvPr id="116" name="Google Shape;116;p21"/>
            <p:cNvSpPr txBox="1"/>
            <p:nvPr/>
          </p:nvSpPr>
          <p:spPr>
            <a:xfrm>
              <a:off x="3938193" y="1140600"/>
              <a:ext cx="4286400" cy="61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Nesneleri güncelleyen sınıftır. İçerisindeki metotların sırası resimdeki gibi olmalıdır.</a:t>
              </a:r>
              <a:endParaRPr b="1">
                <a:solidFill>
                  <a:srgbClr val="3C4043"/>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22" title="gameDraw.png"/>
          <p:cNvPicPr preferRelativeResize="0"/>
          <p:nvPr/>
        </p:nvPicPr>
        <p:blipFill>
          <a:blip r:embed="rId3">
            <a:alphaModFix/>
          </a:blip>
          <a:stretch>
            <a:fillRect/>
          </a:stretch>
        </p:blipFill>
        <p:spPr>
          <a:xfrm>
            <a:off x="2212150" y="2176750"/>
            <a:ext cx="4719700" cy="2903325"/>
          </a:xfrm>
          <a:prstGeom prst="rect">
            <a:avLst/>
          </a:prstGeom>
          <a:noFill/>
          <a:ln>
            <a:noFill/>
          </a:ln>
        </p:spPr>
      </p:pic>
      <p:grpSp>
        <p:nvGrpSpPr>
          <p:cNvPr id="122" name="Google Shape;122;p22"/>
          <p:cNvGrpSpPr/>
          <p:nvPr/>
        </p:nvGrpSpPr>
        <p:grpSpPr>
          <a:xfrm>
            <a:off x="152457" y="129900"/>
            <a:ext cx="8859566" cy="1466525"/>
            <a:chOff x="3938190" y="292975"/>
            <a:chExt cx="4286403" cy="1466525"/>
          </a:xfrm>
        </p:grpSpPr>
        <p:sp>
          <p:nvSpPr>
            <p:cNvPr id="123" name="Google Shape;123;p22"/>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draw</a:t>
              </a:r>
              <a:r>
                <a:rPr b="1" lang="tr" sz="2200">
                  <a:solidFill>
                    <a:srgbClr val="E91E63"/>
                  </a:solidFill>
                  <a:latin typeface="Courier New"/>
                  <a:ea typeface="Courier New"/>
                  <a:cs typeface="Courier New"/>
                  <a:sym typeface="Courier New"/>
                </a:rPr>
                <a:t>()</a:t>
              </a:r>
              <a:endParaRPr b="1" sz="2380">
                <a:solidFill>
                  <a:srgbClr val="E91E63"/>
                </a:solidFill>
                <a:latin typeface="Courier New"/>
                <a:ea typeface="Courier New"/>
                <a:cs typeface="Courier New"/>
                <a:sym typeface="Courier New"/>
              </a:endParaRPr>
            </a:p>
          </p:txBody>
        </p:sp>
        <p:sp>
          <p:nvSpPr>
            <p:cNvPr id="124" name="Google Shape;124;p22"/>
            <p:cNvSpPr txBox="1"/>
            <p:nvPr/>
          </p:nvSpPr>
          <p:spPr>
            <a:xfrm>
              <a:off x="3938193" y="1140600"/>
              <a:ext cx="4286400" cy="61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Bütün güncellemeler yapıldıktan sonra çalışan metottur. İçerisinde ekrandaki görüntüyü gerçekleştirecek renderer metotu bulunmaktadır.</a:t>
              </a:r>
              <a:endParaRPr b="1">
                <a:solidFill>
                  <a:srgbClr val="3C4043"/>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3" title="gameClear.png"/>
          <p:cNvPicPr preferRelativeResize="0"/>
          <p:nvPr/>
        </p:nvPicPr>
        <p:blipFill>
          <a:blip r:embed="rId3">
            <a:alphaModFix/>
          </a:blip>
          <a:stretch>
            <a:fillRect/>
          </a:stretch>
        </p:blipFill>
        <p:spPr>
          <a:xfrm>
            <a:off x="3547200" y="811750"/>
            <a:ext cx="5486126" cy="3520000"/>
          </a:xfrm>
          <a:prstGeom prst="rect">
            <a:avLst/>
          </a:prstGeom>
          <a:noFill/>
          <a:ln>
            <a:noFill/>
          </a:ln>
        </p:spPr>
      </p:pic>
      <p:grpSp>
        <p:nvGrpSpPr>
          <p:cNvPr id="130" name="Google Shape;130;p23"/>
          <p:cNvGrpSpPr/>
          <p:nvPr/>
        </p:nvGrpSpPr>
        <p:grpSpPr>
          <a:xfrm>
            <a:off x="131798" y="811750"/>
            <a:ext cx="3306529" cy="2368625"/>
            <a:chOff x="189003" y="992838"/>
            <a:chExt cx="4286400" cy="2368625"/>
          </a:xfrm>
        </p:grpSpPr>
        <p:sp>
          <p:nvSpPr>
            <p:cNvPr id="131" name="Google Shape;131;p23"/>
            <p:cNvSpPr txBox="1"/>
            <p:nvPr/>
          </p:nvSpPr>
          <p:spPr>
            <a:xfrm>
              <a:off x="189003" y="992838"/>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clear</a:t>
              </a:r>
              <a:r>
                <a:rPr b="1" lang="tr" sz="2200">
                  <a:solidFill>
                    <a:srgbClr val="E91E63"/>
                  </a:solidFill>
                  <a:latin typeface="Courier New"/>
                  <a:ea typeface="Courier New"/>
                  <a:cs typeface="Courier New"/>
                  <a:sym typeface="Courier New"/>
                </a:rPr>
                <a:t>()</a:t>
              </a:r>
              <a:endParaRPr b="1" sz="2380">
                <a:solidFill>
                  <a:srgbClr val="E91E63"/>
                </a:solidFill>
                <a:latin typeface="Courier New"/>
                <a:ea typeface="Courier New"/>
                <a:cs typeface="Courier New"/>
                <a:sym typeface="Courier New"/>
              </a:endParaRPr>
            </a:p>
          </p:txBody>
        </p:sp>
        <p:sp>
          <p:nvSpPr>
            <p:cNvPr id="132" name="Google Shape;132;p23"/>
            <p:cNvSpPr txBox="1"/>
            <p:nvPr/>
          </p:nvSpPr>
          <p:spPr>
            <a:xfrm>
              <a:off x="189003" y="1840463"/>
              <a:ext cx="4286400" cy="152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Değişkenlerini temizlemek isteyen nesneler için bulunan bir metottur.</a:t>
              </a:r>
              <a:endParaRPr b="1">
                <a:solidFill>
                  <a:srgbClr val="3C4043"/>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grpSp>
        <p:nvGrpSpPr>
          <p:cNvPr id="137" name="Google Shape;137;p24"/>
          <p:cNvGrpSpPr/>
          <p:nvPr/>
        </p:nvGrpSpPr>
        <p:grpSpPr>
          <a:xfrm>
            <a:off x="275974" y="268474"/>
            <a:ext cx="8783988" cy="1449021"/>
            <a:chOff x="371824" y="375575"/>
            <a:chExt cx="9483900" cy="1449021"/>
          </a:xfrm>
        </p:grpSpPr>
        <p:sp>
          <p:nvSpPr>
            <p:cNvPr id="138" name="Google Shape;138;p24"/>
            <p:cNvSpPr txBox="1"/>
            <p:nvPr/>
          </p:nvSpPr>
          <p:spPr>
            <a:xfrm>
              <a:off x="2970529" y="3755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Veri Sınıfları</a:t>
              </a:r>
              <a:endParaRPr b="1" sz="2380">
                <a:solidFill>
                  <a:srgbClr val="E91E63"/>
                </a:solidFill>
                <a:latin typeface="Courier New"/>
                <a:ea typeface="Courier New"/>
                <a:cs typeface="Courier New"/>
                <a:sym typeface="Courier New"/>
              </a:endParaRPr>
            </a:p>
          </p:txBody>
        </p:sp>
        <p:sp>
          <p:nvSpPr>
            <p:cNvPr id="139" name="Google Shape;139;p24"/>
            <p:cNvSpPr txBox="1"/>
            <p:nvPr/>
          </p:nvSpPr>
          <p:spPr>
            <a:xfrm>
              <a:off x="371824" y="1100096"/>
              <a:ext cx="9483900" cy="724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lnSpc>
                  <a:spcPct val="100000"/>
                </a:lnSpc>
                <a:spcBef>
                  <a:spcPts val="0"/>
                </a:spcBef>
                <a:spcAft>
                  <a:spcPts val="1125"/>
                </a:spcAft>
                <a:buNone/>
              </a:pPr>
              <a:r>
                <a:rPr b="1" lang="tr">
                  <a:solidFill>
                    <a:srgbClr val="3C4043"/>
                  </a:solidFill>
                  <a:latin typeface="Arial"/>
                  <a:ea typeface="Arial"/>
                  <a:cs typeface="Arial"/>
                  <a:sym typeface="Arial"/>
                </a:rPr>
                <a:t>Oyunun bütün veri akışlarını içinde tutan sınıflardır. Nesnelerin erişebileceği ortak alan olarak da denilebilir.</a:t>
              </a:r>
              <a:endParaRPr b="1">
                <a:solidFill>
                  <a:srgbClr val="3C4043"/>
                </a:solidFill>
                <a:latin typeface="Arial"/>
                <a:ea typeface="Arial"/>
                <a:cs typeface="Arial"/>
                <a:sym typeface="Arial"/>
              </a:endParaRPr>
            </a:p>
          </p:txBody>
        </p:sp>
      </p:grpSp>
      <p:pic>
        <p:nvPicPr>
          <p:cNvPr id="140" name="Google Shape;140;p24" title="DataClasses.png"/>
          <p:cNvPicPr preferRelativeResize="0"/>
          <p:nvPr/>
        </p:nvPicPr>
        <p:blipFill>
          <a:blip r:embed="rId3">
            <a:alphaModFix/>
          </a:blip>
          <a:stretch>
            <a:fillRect/>
          </a:stretch>
        </p:blipFill>
        <p:spPr>
          <a:xfrm>
            <a:off x="1518300" y="1717500"/>
            <a:ext cx="5898675" cy="3355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25" title="globalData.png"/>
          <p:cNvPicPr preferRelativeResize="0"/>
          <p:nvPr/>
        </p:nvPicPr>
        <p:blipFill>
          <a:blip r:embed="rId3">
            <a:alphaModFix/>
          </a:blip>
          <a:stretch>
            <a:fillRect/>
          </a:stretch>
        </p:blipFill>
        <p:spPr>
          <a:xfrm>
            <a:off x="3934925" y="665499"/>
            <a:ext cx="5073574" cy="3812500"/>
          </a:xfrm>
          <a:prstGeom prst="rect">
            <a:avLst/>
          </a:prstGeom>
          <a:noFill/>
          <a:ln>
            <a:noFill/>
          </a:ln>
        </p:spPr>
      </p:pic>
      <p:grpSp>
        <p:nvGrpSpPr>
          <p:cNvPr id="146" name="Google Shape;146;p25"/>
          <p:cNvGrpSpPr/>
          <p:nvPr/>
        </p:nvGrpSpPr>
        <p:grpSpPr>
          <a:xfrm>
            <a:off x="46743" y="665500"/>
            <a:ext cx="3753172" cy="2368625"/>
            <a:chOff x="381000" y="353125"/>
            <a:chExt cx="4286400" cy="2368625"/>
          </a:xfrm>
        </p:grpSpPr>
        <p:sp>
          <p:nvSpPr>
            <p:cNvPr id="147" name="Google Shape;147;p25"/>
            <p:cNvSpPr txBox="1"/>
            <p:nvPr/>
          </p:nvSpPr>
          <p:spPr>
            <a:xfrm>
              <a:off x="381000" y="35312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GlobalData</a:t>
              </a:r>
              <a:endParaRPr b="1" sz="2380">
                <a:solidFill>
                  <a:srgbClr val="E91E63"/>
                </a:solidFill>
                <a:latin typeface="Courier New"/>
                <a:ea typeface="Courier New"/>
                <a:cs typeface="Courier New"/>
                <a:sym typeface="Courier New"/>
              </a:endParaRPr>
            </a:p>
          </p:txBody>
        </p:sp>
        <p:sp>
          <p:nvSpPr>
            <p:cNvPr id="148" name="Google Shape;148;p25"/>
            <p:cNvSpPr txBox="1"/>
            <p:nvPr/>
          </p:nvSpPr>
          <p:spPr>
            <a:xfrm>
              <a:off x="381000" y="1200750"/>
              <a:ext cx="4286400" cy="152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Oyunun genel bilgilerini tutan sınıftır. </a:t>
              </a:r>
              <a:endParaRPr b="1">
                <a:solidFill>
                  <a:srgbClr val="3C4043"/>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6" title="instanceData.png"/>
          <p:cNvPicPr preferRelativeResize="0"/>
          <p:nvPr/>
        </p:nvPicPr>
        <p:blipFill>
          <a:blip r:embed="rId3">
            <a:alphaModFix/>
          </a:blip>
          <a:stretch>
            <a:fillRect/>
          </a:stretch>
        </p:blipFill>
        <p:spPr>
          <a:xfrm>
            <a:off x="3526675" y="789800"/>
            <a:ext cx="5499273" cy="3679150"/>
          </a:xfrm>
          <a:prstGeom prst="rect">
            <a:avLst/>
          </a:prstGeom>
          <a:noFill/>
          <a:ln>
            <a:noFill/>
          </a:ln>
        </p:spPr>
      </p:pic>
      <p:grpSp>
        <p:nvGrpSpPr>
          <p:cNvPr id="154" name="Google Shape;154;p26"/>
          <p:cNvGrpSpPr/>
          <p:nvPr/>
        </p:nvGrpSpPr>
        <p:grpSpPr>
          <a:xfrm>
            <a:off x="63398" y="789800"/>
            <a:ext cx="3306529" cy="2368625"/>
            <a:chOff x="189003" y="992838"/>
            <a:chExt cx="4286400" cy="2368625"/>
          </a:xfrm>
        </p:grpSpPr>
        <p:sp>
          <p:nvSpPr>
            <p:cNvPr id="155" name="Google Shape;155;p26"/>
            <p:cNvSpPr txBox="1"/>
            <p:nvPr/>
          </p:nvSpPr>
          <p:spPr>
            <a:xfrm>
              <a:off x="189003" y="992838"/>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InstanceData </a:t>
              </a:r>
              <a:endParaRPr b="1" sz="2380">
                <a:solidFill>
                  <a:srgbClr val="E91E63"/>
                </a:solidFill>
                <a:latin typeface="Courier New"/>
                <a:ea typeface="Courier New"/>
                <a:cs typeface="Courier New"/>
                <a:sym typeface="Courier New"/>
              </a:endParaRPr>
            </a:p>
          </p:txBody>
        </p:sp>
        <p:sp>
          <p:nvSpPr>
            <p:cNvPr id="156" name="Google Shape;156;p26"/>
            <p:cNvSpPr txBox="1"/>
            <p:nvPr/>
          </p:nvSpPr>
          <p:spPr>
            <a:xfrm>
              <a:off x="189003" y="1840463"/>
              <a:ext cx="4286400" cy="152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Nesnele</a:t>
              </a:r>
              <a:r>
                <a:rPr b="1" lang="tr">
                  <a:solidFill>
                    <a:srgbClr val="3C4043"/>
                  </a:solidFill>
                  <a:latin typeface="Arial"/>
                  <a:ea typeface="Arial"/>
                  <a:cs typeface="Arial"/>
                  <a:sym typeface="Arial"/>
                </a:rPr>
                <a:t>rin</a:t>
              </a:r>
              <a:r>
                <a:rPr b="1" lang="tr">
                  <a:solidFill>
                    <a:srgbClr val="3C4043"/>
                  </a:solidFill>
                  <a:latin typeface="Arial"/>
                  <a:ea typeface="Arial"/>
                  <a:cs typeface="Arial"/>
                  <a:sym typeface="Arial"/>
                </a:rPr>
                <a:t> pozisyon,matris gibi bilgilerini ve istenilen çizimlerin yapılabilmesi için sabit değerleri tutar.</a:t>
              </a:r>
              <a:endParaRPr b="1">
                <a:solidFill>
                  <a:srgbClr val="3C4043"/>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27" title="instanceData.png"/>
          <p:cNvPicPr preferRelativeResize="0"/>
          <p:nvPr/>
        </p:nvPicPr>
        <p:blipFill>
          <a:blip r:embed="rId3">
            <a:alphaModFix/>
          </a:blip>
          <a:stretch>
            <a:fillRect/>
          </a:stretch>
        </p:blipFill>
        <p:spPr>
          <a:xfrm>
            <a:off x="809913" y="54800"/>
            <a:ext cx="7524177" cy="5033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grpSp>
        <p:nvGrpSpPr>
          <p:cNvPr id="166" name="Google Shape;166;p28"/>
          <p:cNvGrpSpPr/>
          <p:nvPr/>
        </p:nvGrpSpPr>
        <p:grpSpPr>
          <a:xfrm>
            <a:off x="92523" y="263275"/>
            <a:ext cx="3087923" cy="2368625"/>
            <a:chOff x="381000" y="353125"/>
            <a:chExt cx="4286400" cy="2368625"/>
          </a:xfrm>
        </p:grpSpPr>
        <p:sp>
          <p:nvSpPr>
            <p:cNvPr id="167" name="Google Shape;167;p28"/>
            <p:cNvSpPr txBox="1"/>
            <p:nvPr/>
          </p:nvSpPr>
          <p:spPr>
            <a:xfrm>
              <a:off x="381000" y="35312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EntityData </a:t>
              </a:r>
              <a:endParaRPr b="1" sz="2380">
                <a:solidFill>
                  <a:srgbClr val="E91E63"/>
                </a:solidFill>
                <a:latin typeface="Courier New"/>
                <a:ea typeface="Courier New"/>
                <a:cs typeface="Courier New"/>
                <a:sym typeface="Courier New"/>
              </a:endParaRPr>
            </a:p>
          </p:txBody>
        </p:sp>
        <p:sp>
          <p:nvSpPr>
            <p:cNvPr id="168" name="Google Shape;168;p28"/>
            <p:cNvSpPr txBox="1"/>
            <p:nvPr/>
          </p:nvSpPr>
          <p:spPr>
            <a:xfrm>
              <a:off x="381000" y="1200750"/>
              <a:ext cx="4286400" cy="152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Enemy,camera,asset ve player sınıflarının bilgilerini barındırır.</a:t>
              </a:r>
              <a:endParaRPr b="1">
                <a:solidFill>
                  <a:srgbClr val="3C4043"/>
                </a:solidFill>
                <a:latin typeface="Arial"/>
                <a:ea typeface="Arial"/>
                <a:cs typeface="Arial"/>
                <a:sym typeface="Arial"/>
              </a:endParaRPr>
            </a:p>
          </p:txBody>
        </p:sp>
      </p:grpSp>
      <p:pic>
        <p:nvPicPr>
          <p:cNvPr id="169" name="Google Shape;169;p28" title="entityData.png"/>
          <p:cNvPicPr preferRelativeResize="0"/>
          <p:nvPr/>
        </p:nvPicPr>
        <p:blipFill>
          <a:blip r:embed="rId3">
            <a:alphaModFix/>
          </a:blip>
          <a:stretch>
            <a:fillRect/>
          </a:stretch>
        </p:blipFill>
        <p:spPr>
          <a:xfrm>
            <a:off x="3244528" y="263263"/>
            <a:ext cx="5747073" cy="46169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grpSp>
        <p:nvGrpSpPr>
          <p:cNvPr id="174" name="Google Shape;174;p29"/>
          <p:cNvGrpSpPr/>
          <p:nvPr/>
        </p:nvGrpSpPr>
        <p:grpSpPr>
          <a:xfrm>
            <a:off x="152457" y="129900"/>
            <a:ext cx="8859566" cy="1466525"/>
            <a:chOff x="3938190" y="292975"/>
            <a:chExt cx="4286403" cy="1466525"/>
          </a:xfrm>
        </p:grpSpPr>
        <p:sp>
          <p:nvSpPr>
            <p:cNvPr id="175" name="Google Shape;175;p29"/>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AssetData </a:t>
              </a:r>
              <a:endParaRPr b="1" sz="2380">
                <a:solidFill>
                  <a:srgbClr val="E91E63"/>
                </a:solidFill>
                <a:latin typeface="Courier New"/>
                <a:ea typeface="Courier New"/>
                <a:cs typeface="Courier New"/>
                <a:sym typeface="Courier New"/>
              </a:endParaRPr>
            </a:p>
          </p:txBody>
        </p:sp>
        <p:sp>
          <p:nvSpPr>
            <p:cNvPr id="176" name="Google Shape;176;p29"/>
            <p:cNvSpPr txBox="1"/>
            <p:nvPr/>
          </p:nvSpPr>
          <p:spPr>
            <a:xfrm>
              <a:off x="3938193" y="1140600"/>
              <a:ext cx="4286400" cy="61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Oyundaki statik ve dinamik nesnelerin doku bilgilerini tutan sınıftır.</a:t>
              </a:r>
              <a:endParaRPr b="1">
                <a:solidFill>
                  <a:srgbClr val="3C4043"/>
                </a:solidFill>
                <a:latin typeface="Arial"/>
                <a:ea typeface="Arial"/>
                <a:cs typeface="Arial"/>
                <a:sym typeface="Arial"/>
              </a:endParaRPr>
            </a:p>
          </p:txBody>
        </p:sp>
      </p:grpSp>
      <p:pic>
        <p:nvPicPr>
          <p:cNvPr id="177" name="Google Shape;177;p29" title="assetData.png"/>
          <p:cNvPicPr preferRelativeResize="0"/>
          <p:nvPr/>
        </p:nvPicPr>
        <p:blipFill>
          <a:blip r:embed="rId3">
            <a:alphaModFix/>
          </a:blip>
          <a:stretch>
            <a:fillRect/>
          </a:stretch>
        </p:blipFill>
        <p:spPr>
          <a:xfrm>
            <a:off x="1144169" y="1770325"/>
            <a:ext cx="6855655" cy="32053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grpSp>
        <p:nvGrpSpPr>
          <p:cNvPr id="182" name="Google Shape;182;p30"/>
          <p:cNvGrpSpPr/>
          <p:nvPr/>
        </p:nvGrpSpPr>
        <p:grpSpPr>
          <a:xfrm>
            <a:off x="89950" y="433375"/>
            <a:ext cx="4154131" cy="4165925"/>
            <a:chOff x="3938183" y="292975"/>
            <a:chExt cx="2205304" cy="4165925"/>
          </a:xfrm>
        </p:grpSpPr>
        <p:sp>
          <p:nvSpPr>
            <p:cNvPr id="183" name="Google Shape;183;p30"/>
            <p:cNvSpPr txBox="1"/>
            <p:nvPr/>
          </p:nvSpPr>
          <p:spPr>
            <a:xfrm>
              <a:off x="3938187" y="292975"/>
              <a:ext cx="22053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SceneData </a:t>
              </a:r>
              <a:endParaRPr b="1" sz="2380">
                <a:solidFill>
                  <a:srgbClr val="E91E63"/>
                </a:solidFill>
                <a:latin typeface="Courier New"/>
                <a:ea typeface="Courier New"/>
                <a:cs typeface="Courier New"/>
                <a:sym typeface="Courier New"/>
              </a:endParaRPr>
            </a:p>
          </p:txBody>
        </p:sp>
        <p:sp>
          <p:nvSpPr>
            <p:cNvPr id="184" name="Google Shape;184;p30"/>
            <p:cNvSpPr txBox="1"/>
            <p:nvPr/>
          </p:nvSpPr>
          <p:spPr>
            <a:xfrm>
              <a:off x="3938183" y="1140600"/>
              <a:ext cx="2205300" cy="3318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Odalardan oluşan sahnenin o anki oda bilgilerini tutar.</a:t>
              </a:r>
              <a:endParaRPr b="1">
                <a:solidFill>
                  <a:srgbClr val="3C4043"/>
                </a:solidFill>
                <a:latin typeface="Arial"/>
                <a:ea typeface="Arial"/>
                <a:cs typeface="Arial"/>
                <a:sym typeface="Arial"/>
              </a:endParaRPr>
            </a:p>
          </p:txBody>
        </p:sp>
      </p:grpSp>
      <p:pic>
        <p:nvPicPr>
          <p:cNvPr id="185" name="Google Shape;185;p30" title="sceneData.png"/>
          <p:cNvPicPr preferRelativeResize="0"/>
          <p:nvPr/>
        </p:nvPicPr>
        <p:blipFill>
          <a:blip r:embed="rId3">
            <a:alphaModFix/>
          </a:blip>
          <a:stretch>
            <a:fillRect/>
          </a:stretch>
        </p:blipFill>
        <p:spPr>
          <a:xfrm>
            <a:off x="4347145" y="433450"/>
            <a:ext cx="4674104" cy="4165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grpSp>
        <p:nvGrpSpPr>
          <p:cNvPr id="190" name="Google Shape;190;p31"/>
          <p:cNvGrpSpPr/>
          <p:nvPr/>
        </p:nvGrpSpPr>
        <p:grpSpPr>
          <a:xfrm>
            <a:off x="152457" y="129900"/>
            <a:ext cx="8859566" cy="1466525"/>
            <a:chOff x="3938190" y="292975"/>
            <a:chExt cx="4286403" cy="1466525"/>
          </a:xfrm>
        </p:grpSpPr>
        <p:sp>
          <p:nvSpPr>
            <p:cNvPr id="191" name="Google Shape;191;p31"/>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InfoData </a:t>
              </a:r>
              <a:endParaRPr b="1" sz="2380">
                <a:solidFill>
                  <a:srgbClr val="E91E63"/>
                </a:solidFill>
                <a:latin typeface="Courier New"/>
                <a:ea typeface="Courier New"/>
                <a:cs typeface="Courier New"/>
                <a:sym typeface="Courier New"/>
              </a:endParaRPr>
            </a:p>
          </p:txBody>
        </p:sp>
        <p:sp>
          <p:nvSpPr>
            <p:cNvPr id="192" name="Google Shape;192;p31"/>
            <p:cNvSpPr txBox="1"/>
            <p:nvPr/>
          </p:nvSpPr>
          <p:spPr>
            <a:xfrm>
              <a:off x="3938193" y="1140600"/>
              <a:ext cx="4286400" cy="61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Nesnelerin can,hasar gibi değişken bilgilerini tutan sınıftır.</a:t>
              </a:r>
              <a:endParaRPr b="1">
                <a:solidFill>
                  <a:srgbClr val="3C4043"/>
                </a:solidFill>
                <a:latin typeface="Arial"/>
                <a:ea typeface="Arial"/>
                <a:cs typeface="Arial"/>
                <a:sym typeface="Arial"/>
              </a:endParaRPr>
            </a:p>
          </p:txBody>
        </p:sp>
      </p:grpSp>
      <p:pic>
        <p:nvPicPr>
          <p:cNvPr id="193" name="Google Shape;193;p31" title="infoData.png"/>
          <p:cNvPicPr preferRelativeResize="0"/>
          <p:nvPr/>
        </p:nvPicPr>
        <p:blipFill>
          <a:blip r:embed="rId3">
            <a:alphaModFix/>
          </a:blip>
          <a:stretch>
            <a:fillRect/>
          </a:stretch>
        </p:blipFill>
        <p:spPr>
          <a:xfrm>
            <a:off x="152400" y="1911900"/>
            <a:ext cx="8839197" cy="288571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32" title="loaderClasses.png"/>
          <p:cNvPicPr preferRelativeResize="0"/>
          <p:nvPr/>
        </p:nvPicPr>
        <p:blipFill>
          <a:blip r:embed="rId3">
            <a:alphaModFix/>
          </a:blip>
          <a:stretch>
            <a:fillRect/>
          </a:stretch>
        </p:blipFill>
        <p:spPr>
          <a:xfrm>
            <a:off x="75875" y="2285675"/>
            <a:ext cx="8839198" cy="2789730"/>
          </a:xfrm>
          <a:prstGeom prst="rect">
            <a:avLst/>
          </a:prstGeom>
          <a:noFill/>
          <a:ln>
            <a:noFill/>
          </a:ln>
        </p:spPr>
      </p:pic>
      <p:grpSp>
        <p:nvGrpSpPr>
          <p:cNvPr id="199" name="Google Shape;199;p32"/>
          <p:cNvGrpSpPr/>
          <p:nvPr/>
        </p:nvGrpSpPr>
        <p:grpSpPr>
          <a:xfrm>
            <a:off x="152457" y="129900"/>
            <a:ext cx="8859566" cy="1466525"/>
            <a:chOff x="3938190" y="292975"/>
            <a:chExt cx="4286403" cy="1466525"/>
          </a:xfrm>
        </p:grpSpPr>
        <p:sp>
          <p:nvSpPr>
            <p:cNvPr id="200" name="Google Shape;200;p32"/>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Loader Sınıfları</a:t>
              </a:r>
              <a:endParaRPr b="1" sz="2380">
                <a:solidFill>
                  <a:srgbClr val="E91E63"/>
                </a:solidFill>
                <a:latin typeface="Courier New"/>
                <a:ea typeface="Courier New"/>
                <a:cs typeface="Courier New"/>
                <a:sym typeface="Courier New"/>
              </a:endParaRPr>
            </a:p>
          </p:txBody>
        </p:sp>
        <p:sp>
          <p:nvSpPr>
            <p:cNvPr id="201" name="Google Shape;201;p32"/>
            <p:cNvSpPr txBox="1"/>
            <p:nvPr/>
          </p:nvSpPr>
          <p:spPr>
            <a:xfrm>
              <a:off x="3938193" y="1140600"/>
              <a:ext cx="4286400" cy="61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Oyun başlangıcında bütün JSON dosyalarını yükleyip istenilen veri sınıfına atar.</a:t>
              </a:r>
              <a:endParaRPr b="1">
                <a:solidFill>
                  <a:srgbClr val="3C4043"/>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grpSp>
        <p:nvGrpSpPr>
          <p:cNvPr id="206" name="Google Shape;206;p33"/>
          <p:cNvGrpSpPr/>
          <p:nvPr/>
        </p:nvGrpSpPr>
        <p:grpSpPr>
          <a:xfrm>
            <a:off x="152457" y="129900"/>
            <a:ext cx="8859566" cy="1466525"/>
            <a:chOff x="3938190" y="292975"/>
            <a:chExt cx="4286403" cy="1466525"/>
          </a:xfrm>
        </p:grpSpPr>
        <p:sp>
          <p:nvSpPr>
            <p:cNvPr id="207" name="Google Shape;207;p33"/>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Ana Sınıflar</a:t>
              </a:r>
              <a:endParaRPr b="1" sz="2380">
                <a:solidFill>
                  <a:srgbClr val="E91E63"/>
                </a:solidFill>
                <a:latin typeface="Courier New"/>
                <a:ea typeface="Courier New"/>
                <a:cs typeface="Courier New"/>
                <a:sym typeface="Courier New"/>
              </a:endParaRPr>
            </a:p>
          </p:txBody>
        </p:sp>
        <p:sp>
          <p:nvSpPr>
            <p:cNvPr id="208" name="Google Shape;208;p33"/>
            <p:cNvSpPr txBox="1"/>
            <p:nvPr/>
          </p:nvSpPr>
          <p:spPr>
            <a:xfrm>
              <a:off x="3938193" y="1140600"/>
              <a:ext cx="4286400" cy="61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Her yenilemede çeşitli metotları döndürülen ve oyunun temellerini oluşturan sınıflardır. </a:t>
              </a:r>
              <a:endParaRPr b="1">
                <a:solidFill>
                  <a:srgbClr val="3C4043"/>
                </a:solidFill>
                <a:latin typeface="Arial"/>
                <a:ea typeface="Arial"/>
                <a:cs typeface="Arial"/>
                <a:sym typeface="Arial"/>
              </a:endParaRPr>
            </a:p>
          </p:txBody>
        </p:sp>
      </p:grpSp>
      <p:pic>
        <p:nvPicPr>
          <p:cNvPr id="209" name="Google Shape;209;p33" title="mainClasses.png"/>
          <p:cNvPicPr preferRelativeResize="0"/>
          <p:nvPr/>
        </p:nvPicPr>
        <p:blipFill>
          <a:blip r:embed="rId3">
            <a:alphaModFix/>
          </a:blip>
          <a:stretch>
            <a:fillRect/>
          </a:stretch>
        </p:blipFill>
        <p:spPr>
          <a:xfrm>
            <a:off x="263913" y="2943000"/>
            <a:ext cx="8616177" cy="1939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grpSp>
        <p:nvGrpSpPr>
          <p:cNvPr id="214" name="Google Shape;214;p34"/>
          <p:cNvGrpSpPr/>
          <p:nvPr/>
        </p:nvGrpSpPr>
        <p:grpSpPr>
          <a:xfrm>
            <a:off x="152457" y="129900"/>
            <a:ext cx="8859578" cy="1294800"/>
            <a:chOff x="3938190" y="292975"/>
            <a:chExt cx="4286409" cy="1294800"/>
          </a:xfrm>
        </p:grpSpPr>
        <p:sp>
          <p:nvSpPr>
            <p:cNvPr id="215" name="Google Shape;215;p34"/>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368300" lvl="0" marL="457200" rtl="0" algn="ctr">
                <a:spcBef>
                  <a:spcPts val="0"/>
                </a:spcBef>
                <a:spcAft>
                  <a:spcPts val="0"/>
                </a:spcAft>
                <a:buClr>
                  <a:srgbClr val="E91E63"/>
                </a:buClr>
                <a:buSzPts val="2200"/>
                <a:buFont typeface="Courier New"/>
                <a:buAutoNum type="arabicPeriod"/>
              </a:pPr>
              <a:r>
                <a:rPr b="1" lang="tr" sz="2200">
                  <a:solidFill>
                    <a:srgbClr val="E91E63"/>
                  </a:solidFill>
                  <a:latin typeface="Courier New"/>
                  <a:ea typeface="Courier New"/>
                  <a:cs typeface="Courier New"/>
                  <a:sym typeface="Courier New"/>
                </a:rPr>
                <a:t>Scene </a:t>
              </a:r>
              <a:endParaRPr b="1" sz="2380">
                <a:solidFill>
                  <a:srgbClr val="E91E63"/>
                </a:solidFill>
                <a:latin typeface="Courier New"/>
                <a:ea typeface="Courier New"/>
                <a:cs typeface="Courier New"/>
                <a:sym typeface="Courier New"/>
              </a:endParaRPr>
            </a:p>
          </p:txBody>
        </p:sp>
        <p:sp>
          <p:nvSpPr>
            <p:cNvPr id="216" name="Google Shape;216;p34"/>
            <p:cNvSpPr txBox="1"/>
            <p:nvPr/>
          </p:nvSpPr>
          <p:spPr>
            <a:xfrm>
              <a:off x="3938199" y="1017475"/>
              <a:ext cx="4286400" cy="570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Oynanacak sahneyi seçen ve dünyayı o sahneye göre kurgulayan sınıftır. fetchRoomsJSON(),loadRoom(),loadEntities(),update() sınıfın önemli metotlarındandır.</a:t>
              </a:r>
              <a:endParaRPr b="1">
                <a:solidFill>
                  <a:srgbClr val="3C4043"/>
                </a:solidFill>
                <a:latin typeface="Arial"/>
                <a:ea typeface="Arial"/>
                <a:cs typeface="Arial"/>
                <a:sym typeface="Arial"/>
              </a:endParaRPr>
            </a:p>
          </p:txBody>
        </p:sp>
      </p:grpSp>
      <p:pic>
        <p:nvPicPr>
          <p:cNvPr id="217" name="Google Shape;217;p34" title="sceneConstructor.png"/>
          <p:cNvPicPr preferRelativeResize="0"/>
          <p:nvPr/>
        </p:nvPicPr>
        <p:blipFill>
          <a:blip r:embed="rId3">
            <a:alphaModFix/>
          </a:blip>
          <a:stretch>
            <a:fillRect/>
          </a:stretch>
        </p:blipFill>
        <p:spPr>
          <a:xfrm>
            <a:off x="2057215" y="1424775"/>
            <a:ext cx="5050024" cy="36088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35" title="sceneFecthRoomsJSON.png"/>
          <p:cNvPicPr preferRelativeResize="0"/>
          <p:nvPr/>
        </p:nvPicPr>
        <p:blipFill>
          <a:blip r:embed="rId3">
            <a:alphaModFix/>
          </a:blip>
          <a:stretch>
            <a:fillRect/>
          </a:stretch>
        </p:blipFill>
        <p:spPr>
          <a:xfrm>
            <a:off x="152400" y="2672950"/>
            <a:ext cx="8839204" cy="2296121"/>
          </a:xfrm>
          <a:prstGeom prst="rect">
            <a:avLst/>
          </a:prstGeom>
          <a:noFill/>
          <a:ln>
            <a:noFill/>
          </a:ln>
        </p:spPr>
      </p:pic>
      <p:grpSp>
        <p:nvGrpSpPr>
          <p:cNvPr id="223" name="Google Shape;223;p35"/>
          <p:cNvGrpSpPr/>
          <p:nvPr/>
        </p:nvGrpSpPr>
        <p:grpSpPr>
          <a:xfrm>
            <a:off x="152457" y="129900"/>
            <a:ext cx="8859566" cy="1466525"/>
            <a:chOff x="3938190" y="292975"/>
            <a:chExt cx="4286403" cy="1466525"/>
          </a:xfrm>
        </p:grpSpPr>
        <p:sp>
          <p:nvSpPr>
            <p:cNvPr id="224" name="Google Shape;224;p35"/>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fetchRoomsJSON()</a:t>
              </a:r>
              <a:endParaRPr b="1" sz="2380">
                <a:solidFill>
                  <a:srgbClr val="E91E63"/>
                </a:solidFill>
                <a:latin typeface="Courier New"/>
                <a:ea typeface="Courier New"/>
                <a:cs typeface="Courier New"/>
                <a:sym typeface="Courier New"/>
              </a:endParaRPr>
            </a:p>
          </p:txBody>
        </p:sp>
        <p:sp>
          <p:nvSpPr>
            <p:cNvPr id="225" name="Google Shape;225;p35"/>
            <p:cNvSpPr txBox="1"/>
            <p:nvPr/>
          </p:nvSpPr>
          <p:spPr>
            <a:xfrm>
              <a:off x="3938193" y="1140600"/>
              <a:ext cx="4286400" cy="61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Oyunun başında oda bilgilerini tutan JSON dosyasını yüklemek için kullanılan metottur.</a:t>
              </a:r>
              <a:endParaRPr b="1">
                <a:solidFill>
                  <a:srgbClr val="3C4043"/>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36" title="sceneUpdate.png"/>
          <p:cNvPicPr preferRelativeResize="0"/>
          <p:nvPr/>
        </p:nvPicPr>
        <p:blipFill>
          <a:blip r:embed="rId3">
            <a:alphaModFix/>
          </a:blip>
          <a:stretch>
            <a:fillRect/>
          </a:stretch>
        </p:blipFill>
        <p:spPr>
          <a:xfrm>
            <a:off x="938300" y="1811625"/>
            <a:ext cx="7267399" cy="3228200"/>
          </a:xfrm>
          <a:prstGeom prst="rect">
            <a:avLst/>
          </a:prstGeom>
          <a:noFill/>
          <a:ln>
            <a:noFill/>
          </a:ln>
        </p:spPr>
      </p:pic>
      <p:grpSp>
        <p:nvGrpSpPr>
          <p:cNvPr id="231" name="Google Shape;231;p36"/>
          <p:cNvGrpSpPr/>
          <p:nvPr/>
        </p:nvGrpSpPr>
        <p:grpSpPr>
          <a:xfrm>
            <a:off x="152457" y="129900"/>
            <a:ext cx="8859566" cy="1466525"/>
            <a:chOff x="3938190" y="292975"/>
            <a:chExt cx="4286403" cy="1466525"/>
          </a:xfrm>
        </p:grpSpPr>
        <p:sp>
          <p:nvSpPr>
            <p:cNvPr id="232" name="Google Shape;232;p36"/>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update()</a:t>
              </a:r>
              <a:endParaRPr b="1" sz="2380">
                <a:solidFill>
                  <a:srgbClr val="E91E63"/>
                </a:solidFill>
                <a:latin typeface="Courier New"/>
                <a:ea typeface="Courier New"/>
                <a:cs typeface="Courier New"/>
                <a:sym typeface="Courier New"/>
              </a:endParaRPr>
            </a:p>
          </p:txBody>
        </p:sp>
        <p:sp>
          <p:nvSpPr>
            <p:cNvPr id="233" name="Google Shape;233;p36"/>
            <p:cNvSpPr txBox="1"/>
            <p:nvPr/>
          </p:nvSpPr>
          <p:spPr>
            <a:xfrm>
              <a:off x="3938193" y="1140600"/>
              <a:ext cx="4286400" cy="61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Scene sınıfının update metotudur. Her yenilemede odanın değişip değişmediği bilgisini kontrol eder. Eğer oda değişmişse loadRoom metotunu çalıştırır. </a:t>
              </a:r>
              <a:endParaRPr b="1">
                <a:solidFill>
                  <a:srgbClr val="3C4043"/>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37" title="sceneLoadRoom.png"/>
          <p:cNvPicPr preferRelativeResize="0"/>
          <p:nvPr/>
        </p:nvPicPr>
        <p:blipFill>
          <a:blip r:embed="rId3">
            <a:alphaModFix/>
          </a:blip>
          <a:stretch>
            <a:fillRect/>
          </a:stretch>
        </p:blipFill>
        <p:spPr>
          <a:xfrm>
            <a:off x="1619025" y="1818500"/>
            <a:ext cx="5905949" cy="3167800"/>
          </a:xfrm>
          <a:prstGeom prst="rect">
            <a:avLst/>
          </a:prstGeom>
          <a:noFill/>
          <a:ln>
            <a:noFill/>
          </a:ln>
        </p:spPr>
      </p:pic>
      <p:grpSp>
        <p:nvGrpSpPr>
          <p:cNvPr id="239" name="Google Shape;239;p37"/>
          <p:cNvGrpSpPr/>
          <p:nvPr/>
        </p:nvGrpSpPr>
        <p:grpSpPr>
          <a:xfrm>
            <a:off x="152457" y="129900"/>
            <a:ext cx="8859566" cy="1466525"/>
            <a:chOff x="3938190" y="292975"/>
            <a:chExt cx="4286403" cy="1466525"/>
          </a:xfrm>
        </p:grpSpPr>
        <p:sp>
          <p:nvSpPr>
            <p:cNvPr id="240" name="Google Shape;240;p37"/>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loadRoom()</a:t>
              </a:r>
              <a:endParaRPr b="1" sz="2380">
                <a:solidFill>
                  <a:srgbClr val="E91E63"/>
                </a:solidFill>
                <a:latin typeface="Courier New"/>
                <a:ea typeface="Courier New"/>
                <a:cs typeface="Courier New"/>
                <a:sym typeface="Courier New"/>
              </a:endParaRPr>
            </a:p>
          </p:txBody>
        </p:sp>
        <p:sp>
          <p:nvSpPr>
            <p:cNvPr id="241" name="Google Shape;241;p37"/>
            <p:cNvSpPr txBox="1"/>
            <p:nvPr/>
          </p:nvSpPr>
          <p:spPr>
            <a:xfrm>
              <a:off x="3938193" y="1140600"/>
              <a:ext cx="4286400" cy="61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Oda değiştiği zaman çalışan metottur. roomsJSON dizisine girilen değerdeki odaya geçiş yapılır. Oda değiştikten sonra changeRoom boolean değişkeni false olur.</a:t>
              </a:r>
              <a:endParaRPr b="1">
                <a:solidFill>
                  <a:srgbClr val="3C4043"/>
                </a:solidFill>
                <a:latin typeface="Arial"/>
                <a:ea typeface="Arial"/>
                <a:cs typeface="Arial"/>
                <a:sym typeface="Aria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38" title="sceneLoadEntities.png"/>
          <p:cNvPicPr preferRelativeResize="0"/>
          <p:nvPr/>
        </p:nvPicPr>
        <p:blipFill>
          <a:blip r:embed="rId3">
            <a:alphaModFix/>
          </a:blip>
          <a:stretch>
            <a:fillRect/>
          </a:stretch>
        </p:blipFill>
        <p:spPr>
          <a:xfrm>
            <a:off x="152400" y="1872525"/>
            <a:ext cx="8839199" cy="3213042"/>
          </a:xfrm>
          <a:prstGeom prst="rect">
            <a:avLst/>
          </a:prstGeom>
          <a:noFill/>
          <a:ln>
            <a:noFill/>
          </a:ln>
        </p:spPr>
      </p:pic>
      <p:grpSp>
        <p:nvGrpSpPr>
          <p:cNvPr id="247" name="Google Shape;247;p38"/>
          <p:cNvGrpSpPr/>
          <p:nvPr/>
        </p:nvGrpSpPr>
        <p:grpSpPr>
          <a:xfrm>
            <a:off x="152457" y="129900"/>
            <a:ext cx="8859566" cy="1466525"/>
            <a:chOff x="3938190" y="292975"/>
            <a:chExt cx="4286403" cy="1466525"/>
          </a:xfrm>
        </p:grpSpPr>
        <p:sp>
          <p:nvSpPr>
            <p:cNvPr id="248" name="Google Shape;248;p38"/>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loadEntities</a:t>
              </a:r>
              <a:r>
                <a:rPr b="1" lang="tr" sz="2200">
                  <a:solidFill>
                    <a:srgbClr val="E91E63"/>
                  </a:solidFill>
                  <a:latin typeface="Courier New"/>
                  <a:ea typeface="Courier New"/>
                  <a:cs typeface="Courier New"/>
                  <a:sym typeface="Courier New"/>
                </a:rPr>
                <a:t>()</a:t>
              </a:r>
              <a:endParaRPr b="1" sz="2380">
                <a:solidFill>
                  <a:srgbClr val="E91E63"/>
                </a:solidFill>
                <a:latin typeface="Courier New"/>
                <a:ea typeface="Courier New"/>
                <a:cs typeface="Courier New"/>
                <a:sym typeface="Courier New"/>
              </a:endParaRPr>
            </a:p>
          </p:txBody>
        </p:sp>
        <p:sp>
          <p:nvSpPr>
            <p:cNvPr id="249" name="Google Shape;249;p38"/>
            <p:cNvSpPr txBox="1"/>
            <p:nvPr/>
          </p:nvSpPr>
          <p:spPr>
            <a:xfrm>
              <a:off x="3938193" y="1140600"/>
              <a:ext cx="4286400" cy="61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loadRoom metotunun içinde çalışır. Seçili odadaki nesne bilgilerini entityData veri sınıfına taşır.</a:t>
              </a:r>
              <a:endParaRPr b="1">
                <a:solidFill>
                  <a:srgbClr val="3C4043"/>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id="254" name="Google Shape;254;p39" title="InputHandler.png"/>
          <p:cNvPicPr preferRelativeResize="0"/>
          <p:nvPr/>
        </p:nvPicPr>
        <p:blipFill>
          <a:blip r:embed="rId3">
            <a:alphaModFix/>
          </a:blip>
          <a:stretch>
            <a:fillRect/>
          </a:stretch>
        </p:blipFill>
        <p:spPr>
          <a:xfrm>
            <a:off x="3904700" y="399425"/>
            <a:ext cx="5116874" cy="4344649"/>
          </a:xfrm>
          <a:prstGeom prst="rect">
            <a:avLst/>
          </a:prstGeom>
          <a:noFill/>
          <a:ln>
            <a:noFill/>
          </a:ln>
        </p:spPr>
      </p:pic>
      <p:grpSp>
        <p:nvGrpSpPr>
          <p:cNvPr id="255" name="Google Shape;255;p39"/>
          <p:cNvGrpSpPr/>
          <p:nvPr/>
        </p:nvGrpSpPr>
        <p:grpSpPr>
          <a:xfrm>
            <a:off x="211499" y="665500"/>
            <a:ext cx="3382268" cy="2368625"/>
            <a:chOff x="569164" y="353125"/>
            <a:chExt cx="3862800" cy="2368625"/>
          </a:xfrm>
        </p:grpSpPr>
        <p:sp>
          <p:nvSpPr>
            <p:cNvPr id="256" name="Google Shape;256;p39"/>
            <p:cNvSpPr txBox="1"/>
            <p:nvPr/>
          </p:nvSpPr>
          <p:spPr>
            <a:xfrm>
              <a:off x="569164" y="353125"/>
              <a:ext cx="38628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InputHandler </a:t>
              </a:r>
              <a:endParaRPr b="1" sz="2380">
                <a:solidFill>
                  <a:srgbClr val="E91E63"/>
                </a:solidFill>
                <a:latin typeface="Courier New"/>
                <a:ea typeface="Courier New"/>
                <a:cs typeface="Courier New"/>
                <a:sym typeface="Courier New"/>
              </a:endParaRPr>
            </a:p>
          </p:txBody>
        </p:sp>
        <p:sp>
          <p:nvSpPr>
            <p:cNvPr id="257" name="Google Shape;257;p39"/>
            <p:cNvSpPr txBox="1"/>
            <p:nvPr/>
          </p:nvSpPr>
          <p:spPr>
            <a:xfrm>
              <a:off x="569164" y="1200750"/>
              <a:ext cx="3862800" cy="152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Oyunun tuş girişlerinin alındığı sınıftır. Alınan tuş girişleri entityData veri sınıfına taşınır.</a:t>
              </a:r>
              <a:endParaRPr b="1">
                <a:solidFill>
                  <a:srgbClr val="3C4043"/>
                </a:solidFill>
                <a:latin typeface="Arial"/>
                <a:ea typeface="Arial"/>
                <a:cs typeface="Arial"/>
                <a:sym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40" title="collectorConstructor.png"/>
          <p:cNvPicPr preferRelativeResize="0"/>
          <p:nvPr/>
        </p:nvPicPr>
        <p:blipFill>
          <a:blip r:embed="rId3">
            <a:alphaModFix/>
          </a:blip>
          <a:stretch>
            <a:fillRect/>
          </a:stretch>
        </p:blipFill>
        <p:spPr>
          <a:xfrm>
            <a:off x="4081700" y="152400"/>
            <a:ext cx="4939739" cy="4838699"/>
          </a:xfrm>
          <a:prstGeom prst="rect">
            <a:avLst/>
          </a:prstGeom>
          <a:noFill/>
          <a:ln>
            <a:noFill/>
          </a:ln>
        </p:spPr>
      </p:pic>
      <p:grpSp>
        <p:nvGrpSpPr>
          <p:cNvPr id="263" name="Google Shape;263;p40"/>
          <p:cNvGrpSpPr/>
          <p:nvPr/>
        </p:nvGrpSpPr>
        <p:grpSpPr>
          <a:xfrm>
            <a:off x="238975" y="203125"/>
            <a:ext cx="3931269" cy="2368625"/>
            <a:chOff x="569165" y="353125"/>
            <a:chExt cx="4489800" cy="2368625"/>
          </a:xfrm>
        </p:grpSpPr>
        <p:sp>
          <p:nvSpPr>
            <p:cNvPr id="264" name="Google Shape;264;p40"/>
            <p:cNvSpPr txBox="1"/>
            <p:nvPr/>
          </p:nvSpPr>
          <p:spPr>
            <a:xfrm>
              <a:off x="569165" y="353125"/>
              <a:ext cx="44898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2. Collector</a:t>
              </a:r>
              <a:endParaRPr b="1" sz="2380">
                <a:solidFill>
                  <a:srgbClr val="E91E63"/>
                </a:solidFill>
                <a:latin typeface="Courier New"/>
                <a:ea typeface="Courier New"/>
                <a:cs typeface="Courier New"/>
                <a:sym typeface="Courier New"/>
              </a:endParaRPr>
            </a:p>
          </p:txBody>
        </p:sp>
        <p:sp>
          <p:nvSpPr>
            <p:cNvPr id="265" name="Google Shape;265;p40"/>
            <p:cNvSpPr txBox="1"/>
            <p:nvPr/>
          </p:nvSpPr>
          <p:spPr>
            <a:xfrm>
              <a:off x="569165" y="1200750"/>
              <a:ext cx="4489800" cy="152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Nesnelerin verilerini her yenilemede dizilere toplar. Renderer sınıfının çizim yapması için bu dizileri instanceData veri sınıfına taşır. update(), updateInstanceData(), updateQuaTreeData(), clear() sınıfın önemli metotlarıdır.</a:t>
              </a:r>
              <a:endParaRPr b="1">
                <a:solidFill>
                  <a:srgbClr val="3C4043"/>
                </a:solidFill>
                <a:latin typeface="Arial"/>
                <a:ea typeface="Arial"/>
                <a:cs typeface="Arial"/>
                <a:sym typeface="Aria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p41" title="collectorUpdate.png"/>
          <p:cNvPicPr preferRelativeResize="0"/>
          <p:nvPr/>
        </p:nvPicPr>
        <p:blipFill>
          <a:blip r:embed="rId3">
            <a:alphaModFix/>
          </a:blip>
          <a:stretch>
            <a:fillRect/>
          </a:stretch>
        </p:blipFill>
        <p:spPr>
          <a:xfrm>
            <a:off x="4073625" y="899437"/>
            <a:ext cx="4927349" cy="3344625"/>
          </a:xfrm>
          <a:prstGeom prst="rect">
            <a:avLst/>
          </a:prstGeom>
          <a:noFill/>
          <a:ln>
            <a:noFill/>
          </a:ln>
        </p:spPr>
      </p:pic>
      <p:grpSp>
        <p:nvGrpSpPr>
          <p:cNvPr id="271" name="Google Shape;271;p41"/>
          <p:cNvGrpSpPr/>
          <p:nvPr/>
        </p:nvGrpSpPr>
        <p:grpSpPr>
          <a:xfrm>
            <a:off x="336275" y="899425"/>
            <a:ext cx="3379378" cy="2368625"/>
            <a:chOff x="713608" y="353125"/>
            <a:chExt cx="3859500" cy="2368625"/>
          </a:xfrm>
        </p:grpSpPr>
        <p:sp>
          <p:nvSpPr>
            <p:cNvPr id="272" name="Google Shape;272;p41"/>
            <p:cNvSpPr txBox="1"/>
            <p:nvPr/>
          </p:nvSpPr>
          <p:spPr>
            <a:xfrm>
              <a:off x="713608" y="353125"/>
              <a:ext cx="38595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update()</a:t>
              </a:r>
              <a:endParaRPr b="1" sz="2380">
                <a:solidFill>
                  <a:srgbClr val="E91E63"/>
                </a:solidFill>
                <a:latin typeface="Courier New"/>
                <a:ea typeface="Courier New"/>
                <a:cs typeface="Courier New"/>
                <a:sym typeface="Courier New"/>
              </a:endParaRPr>
            </a:p>
          </p:txBody>
        </p:sp>
        <p:sp>
          <p:nvSpPr>
            <p:cNvPr id="273" name="Google Shape;273;p41"/>
            <p:cNvSpPr txBox="1"/>
            <p:nvPr/>
          </p:nvSpPr>
          <p:spPr>
            <a:xfrm>
              <a:off x="713608" y="1200750"/>
              <a:ext cx="3859500" cy="152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entityData veri sınıfından nesneleri alır. Bu nesneleri updateInstanceData metotunda </a:t>
              </a:r>
              <a:r>
                <a:rPr b="1" lang="tr">
                  <a:solidFill>
                    <a:srgbClr val="3C4043"/>
                  </a:solidFill>
                  <a:latin typeface="Arial"/>
                  <a:ea typeface="Arial"/>
                  <a:cs typeface="Arial"/>
                  <a:sym typeface="Arial"/>
                </a:rPr>
                <a:t>kullanır. Ayrıca</a:t>
              </a:r>
              <a:r>
                <a:rPr b="1" lang="tr">
                  <a:solidFill>
                    <a:srgbClr val="3C4043"/>
                  </a:solidFill>
                  <a:latin typeface="Arial"/>
                  <a:ea typeface="Arial"/>
                  <a:cs typeface="Arial"/>
                  <a:sym typeface="Arial"/>
                </a:rPr>
                <a:t> çarpışma testlerinde kullanılan quadtree algoritmasının verilerini</a:t>
              </a:r>
              <a:r>
                <a:rPr b="1" lang="tr">
                  <a:solidFill>
                    <a:srgbClr val="3C4043"/>
                  </a:solidFill>
                  <a:latin typeface="Arial"/>
                  <a:ea typeface="Arial"/>
                  <a:cs typeface="Arial"/>
                  <a:sym typeface="Arial"/>
                </a:rPr>
                <a:t> de</a:t>
              </a:r>
              <a:r>
                <a:rPr b="1" lang="tr">
                  <a:solidFill>
                    <a:srgbClr val="3C4043"/>
                  </a:solidFill>
                  <a:latin typeface="Arial"/>
                  <a:ea typeface="Arial"/>
                  <a:cs typeface="Arial"/>
                  <a:sym typeface="Arial"/>
                </a:rPr>
                <a:t> kullanır.</a:t>
              </a:r>
              <a:endParaRPr b="1">
                <a:solidFill>
                  <a:srgbClr val="3C4043"/>
                </a:solidFill>
                <a:latin typeface="Arial"/>
                <a:ea typeface="Arial"/>
                <a:cs typeface="Arial"/>
                <a:sym typeface="Arial"/>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p42" title="collectorUpdateInstanceData.png"/>
          <p:cNvPicPr preferRelativeResize="0"/>
          <p:nvPr/>
        </p:nvPicPr>
        <p:blipFill>
          <a:blip r:embed="rId3">
            <a:alphaModFix/>
          </a:blip>
          <a:stretch>
            <a:fillRect/>
          </a:stretch>
        </p:blipFill>
        <p:spPr>
          <a:xfrm>
            <a:off x="1078187" y="2134999"/>
            <a:ext cx="6987624" cy="2899825"/>
          </a:xfrm>
          <a:prstGeom prst="rect">
            <a:avLst/>
          </a:prstGeom>
          <a:noFill/>
          <a:ln>
            <a:noFill/>
          </a:ln>
        </p:spPr>
      </p:pic>
      <p:grpSp>
        <p:nvGrpSpPr>
          <p:cNvPr id="279" name="Google Shape;279;p42"/>
          <p:cNvGrpSpPr/>
          <p:nvPr/>
        </p:nvGrpSpPr>
        <p:grpSpPr>
          <a:xfrm>
            <a:off x="152457" y="129900"/>
            <a:ext cx="8859566" cy="1466525"/>
            <a:chOff x="3938190" y="292975"/>
            <a:chExt cx="4286403" cy="1466525"/>
          </a:xfrm>
        </p:grpSpPr>
        <p:sp>
          <p:nvSpPr>
            <p:cNvPr id="280" name="Google Shape;280;p42"/>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updateInstanceData</a:t>
              </a:r>
              <a:r>
                <a:rPr b="1" lang="tr" sz="2200">
                  <a:solidFill>
                    <a:srgbClr val="E91E63"/>
                  </a:solidFill>
                  <a:latin typeface="Courier New"/>
                  <a:ea typeface="Courier New"/>
                  <a:cs typeface="Courier New"/>
                  <a:sym typeface="Courier New"/>
                </a:rPr>
                <a:t>()</a:t>
              </a:r>
              <a:endParaRPr b="1" sz="2380">
                <a:solidFill>
                  <a:srgbClr val="E91E63"/>
                </a:solidFill>
                <a:latin typeface="Courier New"/>
                <a:ea typeface="Courier New"/>
                <a:cs typeface="Courier New"/>
                <a:sym typeface="Courier New"/>
              </a:endParaRPr>
            </a:p>
          </p:txBody>
        </p:sp>
        <p:sp>
          <p:nvSpPr>
            <p:cNvPr id="281" name="Google Shape;281;p42"/>
            <p:cNvSpPr txBox="1"/>
            <p:nvPr/>
          </p:nvSpPr>
          <p:spPr>
            <a:xfrm>
              <a:off x="3938193" y="1140600"/>
              <a:ext cx="4286400" cy="61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Sınıf, aldığı nesneleri burada döngüye sokar ve her nesnenin istenilen verilerini instanceData veri sınıfına alır.</a:t>
              </a:r>
              <a:endParaRPr b="1">
                <a:solidFill>
                  <a:srgbClr val="3C4043"/>
                </a:solidFill>
                <a:latin typeface="Arial"/>
                <a:ea typeface="Arial"/>
                <a:cs typeface="Arial"/>
                <a:sym typeface="Aria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id="286" name="Google Shape;286;p43" title="collectorUpdateQuadTreeData.png"/>
          <p:cNvPicPr preferRelativeResize="0"/>
          <p:nvPr/>
        </p:nvPicPr>
        <p:blipFill>
          <a:blip r:embed="rId3">
            <a:alphaModFix/>
          </a:blip>
          <a:stretch>
            <a:fillRect/>
          </a:stretch>
        </p:blipFill>
        <p:spPr>
          <a:xfrm>
            <a:off x="653712" y="2037875"/>
            <a:ext cx="7836573" cy="3005801"/>
          </a:xfrm>
          <a:prstGeom prst="rect">
            <a:avLst/>
          </a:prstGeom>
          <a:noFill/>
          <a:ln>
            <a:noFill/>
          </a:ln>
        </p:spPr>
      </p:pic>
      <p:grpSp>
        <p:nvGrpSpPr>
          <p:cNvPr id="287" name="Google Shape;287;p43"/>
          <p:cNvGrpSpPr/>
          <p:nvPr/>
        </p:nvGrpSpPr>
        <p:grpSpPr>
          <a:xfrm>
            <a:off x="152457" y="129900"/>
            <a:ext cx="8859566" cy="1466525"/>
            <a:chOff x="3938190" y="292975"/>
            <a:chExt cx="4286403" cy="1466525"/>
          </a:xfrm>
        </p:grpSpPr>
        <p:sp>
          <p:nvSpPr>
            <p:cNvPr id="288" name="Google Shape;288;p43"/>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updateQuadTreeData()</a:t>
              </a:r>
              <a:endParaRPr b="1" sz="2380">
                <a:solidFill>
                  <a:srgbClr val="E91E63"/>
                </a:solidFill>
                <a:latin typeface="Courier New"/>
                <a:ea typeface="Courier New"/>
                <a:cs typeface="Courier New"/>
                <a:sym typeface="Courier New"/>
              </a:endParaRPr>
            </a:p>
          </p:txBody>
        </p:sp>
        <p:sp>
          <p:nvSpPr>
            <p:cNvPr id="289" name="Google Shape;289;p43"/>
            <p:cNvSpPr txBox="1"/>
            <p:nvPr/>
          </p:nvSpPr>
          <p:spPr>
            <a:xfrm>
              <a:off x="3938193" y="1140600"/>
              <a:ext cx="4286400" cy="61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Çizimlerde kullanılacak quadtree verileri instanceData veri sınıfına alınır.</a:t>
              </a:r>
              <a:endParaRPr b="1">
                <a:solidFill>
                  <a:srgbClr val="3C4043"/>
                </a:solidFill>
                <a:latin typeface="Arial"/>
                <a:ea typeface="Arial"/>
                <a:cs typeface="Arial"/>
                <a:sym typeface="Arial"/>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p44" title="collectorClear.png"/>
          <p:cNvPicPr preferRelativeResize="0"/>
          <p:nvPr/>
        </p:nvPicPr>
        <p:blipFill>
          <a:blip r:embed="rId3">
            <a:alphaModFix/>
          </a:blip>
          <a:stretch>
            <a:fillRect/>
          </a:stretch>
        </p:blipFill>
        <p:spPr>
          <a:xfrm>
            <a:off x="4844250" y="1214363"/>
            <a:ext cx="4133301" cy="2714775"/>
          </a:xfrm>
          <a:prstGeom prst="rect">
            <a:avLst/>
          </a:prstGeom>
          <a:noFill/>
          <a:ln>
            <a:noFill/>
          </a:ln>
        </p:spPr>
      </p:pic>
      <p:grpSp>
        <p:nvGrpSpPr>
          <p:cNvPr id="295" name="Google Shape;295;p44"/>
          <p:cNvGrpSpPr/>
          <p:nvPr/>
        </p:nvGrpSpPr>
        <p:grpSpPr>
          <a:xfrm>
            <a:off x="303050" y="1214375"/>
            <a:ext cx="3931269" cy="2368625"/>
            <a:chOff x="569165" y="353125"/>
            <a:chExt cx="4489800" cy="2368625"/>
          </a:xfrm>
        </p:grpSpPr>
        <p:sp>
          <p:nvSpPr>
            <p:cNvPr id="296" name="Google Shape;296;p44"/>
            <p:cNvSpPr txBox="1"/>
            <p:nvPr/>
          </p:nvSpPr>
          <p:spPr>
            <a:xfrm>
              <a:off x="569165" y="353125"/>
              <a:ext cx="44898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clear()</a:t>
              </a:r>
              <a:endParaRPr b="1" sz="2380">
                <a:solidFill>
                  <a:srgbClr val="E91E63"/>
                </a:solidFill>
                <a:latin typeface="Courier New"/>
                <a:ea typeface="Courier New"/>
                <a:cs typeface="Courier New"/>
                <a:sym typeface="Courier New"/>
              </a:endParaRPr>
            </a:p>
          </p:txBody>
        </p:sp>
        <p:sp>
          <p:nvSpPr>
            <p:cNvPr id="297" name="Google Shape;297;p44"/>
            <p:cNvSpPr txBox="1"/>
            <p:nvPr/>
          </p:nvSpPr>
          <p:spPr>
            <a:xfrm>
              <a:off x="569165" y="1200750"/>
              <a:ext cx="4489800" cy="152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Her bir yenilemede currentCount ve qtNodeCount değişkenleri sıfıra döndürülür. </a:t>
              </a:r>
              <a:endParaRPr b="1">
                <a:solidFill>
                  <a:srgbClr val="3C4043"/>
                </a:solidFill>
                <a:latin typeface="Arial"/>
                <a:ea typeface="Arial"/>
                <a:cs typeface="Arial"/>
                <a:sym typeface="Arial"/>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45" title="collisionConstructor.png"/>
          <p:cNvPicPr preferRelativeResize="0"/>
          <p:nvPr/>
        </p:nvPicPr>
        <p:blipFill>
          <a:blip r:embed="rId3">
            <a:alphaModFix/>
          </a:blip>
          <a:stretch>
            <a:fillRect/>
          </a:stretch>
        </p:blipFill>
        <p:spPr>
          <a:xfrm>
            <a:off x="4529850" y="88293"/>
            <a:ext cx="4524549" cy="4966918"/>
          </a:xfrm>
          <a:prstGeom prst="rect">
            <a:avLst/>
          </a:prstGeom>
          <a:noFill/>
          <a:ln>
            <a:noFill/>
          </a:ln>
        </p:spPr>
      </p:pic>
      <p:grpSp>
        <p:nvGrpSpPr>
          <p:cNvPr id="303" name="Google Shape;303;p45"/>
          <p:cNvGrpSpPr/>
          <p:nvPr/>
        </p:nvGrpSpPr>
        <p:grpSpPr>
          <a:xfrm>
            <a:off x="156625" y="152400"/>
            <a:ext cx="4279057" cy="2368625"/>
            <a:chOff x="569165" y="353125"/>
            <a:chExt cx="4887000" cy="2368625"/>
          </a:xfrm>
        </p:grpSpPr>
        <p:sp>
          <p:nvSpPr>
            <p:cNvPr id="304" name="Google Shape;304;p45"/>
            <p:cNvSpPr txBox="1"/>
            <p:nvPr/>
          </p:nvSpPr>
          <p:spPr>
            <a:xfrm>
              <a:off x="569165" y="353125"/>
              <a:ext cx="48870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3. Collision</a:t>
              </a:r>
              <a:endParaRPr b="1" sz="2380">
                <a:solidFill>
                  <a:srgbClr val="E91E63"/>
                </a:solidFill>
                <a:latin typeface="Courier New"/>
                <a:ea typeface="Courier New"/>
                <a:cs typeface="Courier New"/>
                <a:sym typeface="Courier New"/>
              </a:endParaRPr>
            </a:p>
          </p:txBody>
        </p:sp>
        <p:sp>
          <p:nvSpPr>
            <p:cNvPr id="305" name="Google Shape;305;p45"/>
            <p:cNvSpPr txBox="1"/>
            <p:nvPr/>
          </p:nvSpPr>
          <p:spPr>
            <a:xfrm>
              <a:off x="569165" y="1200750"/>
              <a:ext cx="4887000" cy="152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Nesneler arası çarpışmaları hesaplar. update(), clear(), insertEntity(), queryEntity(), check(), checkCollision() sınıfın önemli metotlarıdır. Çarpışma testleri için AABB, SAT sınıfları kullanılır. Çarpışma testlerine yardım etmesi için de QuadTree, Point, Rectangle sınıfları kullanılır.</a:t>
              </a:r>
              <a:endParaRPr b="1">
                <a:solidFill>
                  <a:srgbClr val="3C4043"/>
                </a:solidFill>
                <a:latin typeface="Arial"/>
                <a:ea typeface="Arial"/>
                <a:cs typeface="Arial"/>
                <a:sym typeface="Aria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grpSp>
        <p:nvGrpSpPr>
          <p:cNvPr id="310" name="Google Shape;310;p46"/>
          <p:cNvGrpSpPr/>
          <p:nvPr/>
        </p:nvGrpSpPr>
        <p:grpSpPr>
          <a:xfrm>
            <a:off x="152457" y="129900"/>
            <a:ext cx="8859578" cy="2034125"/>
            <a:chOff x="3938190" y="292975"/>
            <a:chExt cx="4286409" cy="2034125"/>
          </a:xfrm>
        </p:grpSpPr>
        <p:sp>
          <p:nvSpPr>
            <p:cNvPr id="311" name="Google Shape;311;p46"/>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Quadtree</a:t>
              </a:r>
              <a:endParaRPr b="1" sz="2380">
                <a:solidFill>
                  <a:srgbClr val="E91E63"/>
                </a:solidFill>
                <a:latin typeface="Courier New"/>
                <a:ea typeface="Courier New"/>
                <a:cs typeface="Courier New"/>
                <a:sym typeface="Courier New"/>
              </a:endParaRPr>
            </a:p>
          </p:txBody>
        </p:sp>
        <p:sp>
          <p:nvSpPr>
            <p:cNvPr id="312" name="Google Shape;312;p46"/>
            <p:cNvSpPr txBox="1"/>
            <p:nvPr/>
          </p:nvSpPr>
          <p:spPr>
            <a:xfrm>
              <a:off x="3938199" y="1140600"/>
              <a:ext cx="4286400" cy="1186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Quadtree çarpışma test sayısını minimuma indirmeye yarayan bir algoritmadır. Çarpışma testine girecek nesneleri seçmeyi sağlar. Nesnelerin bütün noktaları sırası ile bu algoritmaya yollanır. Quadtree’nin alabileceği nokta sayısının kapasitesi vardır. Örneğin bu sayı beş olsun. Beş nokta aldıktan sonra quadtree altıncı noktayı alamaz. Burada kendisini 4 dikdörtgen dal olacak şekilde çoğaltır. Altıncı noktayı bu dallardan uygun olana koyar. Bütün noktalar bitene kadar bu döngü devam eder ve dallar artar.</a:t>
              </a:r>
              <a:endParaRPr b="1">
                <a:solidFill>
                  <a:srgbClr val="3C4043"/>
                </a:solidFill>
                <a:latin typeface="Arial"/>
                <a:ea typeface="Arial"/>
                <a:cs typeface="Arial"/>
                <a:sym typeface="Arial"/>
              </a:endParaRPr>
            </a:p>
          </p:txBody>
        </p:sp>
      </p:grpSp>
      <p:pic>
        <p:nvPicPr>
          <p:cNvPr id="313" name="Google Shape;313;p46" title="quadTree.png"/>
          <p:cNvPicPr preferRelativeResize="0"/>
          <p:nvPr/>
        </p:nvPicPr>
        <p:blipFill>
          <a:blip r:embed="rId3">
            <a:alphaModFix/>
          </a:blip>
          <a:stretch>
            <a:fillRect/>
          </a:stretch>
        </p:blipFill>
        <p:spPr>
          <a:xfrm>
            <a:off x="2124988" y="2276100"/>
            <a:ext cx="4894014" cy="2751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47" title="quadTreeSubDivide.png"/>
          <p:cNvPicPr preferRelativeResize="0"/>
          <p:nvPr/>
        </p:nvPicPr>
        <p:blipFill>
          <a:blip r:embed="rId3">
            <a:alphaModFix/>
          </a:blip>
          <a:stretch>
            <a:fillRect/>
          </a:stretch>
        </p:blipFill>
        <p:spPr>
          <a:xfrm>
            <a:off x="1706688" y="152400"/>
            <a:ext cx="5730625" cy="483869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p48" title="point.png"/>
          <p:cNvPicPr preferRelativeResize="0"/>
          <p:nvPr/>
        </p:nvPicPr>
        <p:blipFill>
          <a:blip r:embed="rId3">
            <a:alphaModFix/>
          </a:blip>
          <a:stretch>
            <a:fillRect/>
          </a:stretch>
        </p:blipFill>
        <p:spPr>
          <a:xfrm>
            <a:off x="152400" y="2015850"/>
            <a:ext cx="8839204" cy="3073004"/>
          </a:xfrm>
          <a:prstGeom prst="rect">
            <a:avLst/>
          </a:prstGeom>
          <a:noFill/>
          <a:ln>
            <a:noFill/>
          </a:ln>
        </p:spPr>
      </p:pic>
      <p:grpSp>
        <p:nvGrpSpPr>
          <p:cNvPr id="324" name="Google Shape;324;p48"/>
          <p:cNvGrpSpPr/>
          <p:nvPr/>
        </p:nvGrpSpPr>
        <p:grpSpPr>
          <a:xfrm>
            <a:off x="152457" y="129900"/>
            <a:ext cx="8859578" cy="1794125"/>
            <a:chOff x="3938190" y="292975"/>
            <a:chExt cx="4286409" cy="1794125"/>
          </a:xfrm>
        </p:grpSpPr>
        <p:sp>
          <p:nvSpPr>
            <p:cNvPr id="325" name="Google Shape;325;p48"/>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Point</a:t>
              </a:r>
              <a:endParaRPr b="1" sz="2380">
                <a:solidFill>
                  <a:srgbClr val="E91E63"/>
                </a:solidFill>
                <a:latin typeface="Courier New"/>
                <a:ea typeface="Courier New"/>
                <a:cs typeface="Courier New"/>
                <a:sym typeface="Courier New"/>
              </a:endParaRPr>
            </a:p>
          </p:txBody>
        </p:sp>
        <p:sp>
          <p:nvSpPr>
            <p:cNvPr id="326" name="Google Shape;326;p48"/>
            <p:cNvSpPr txBox="1"/>
            <p:nvPr/>
          </p:nvSpPr>
          <p:spPr>
            <a:xfrm>
              <a:off x="3938199" y="1140600"/>
              <a:ext cx="4286400" cy="946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Nesnenin noktalarını saklamak ve quadtree algoritmasına yollamak için vardır. içinde id,konum ve kendi nesnesi gibi çeşitli değişkenler tutmaktadır. contains() metotu quadtree dalları ile çarpışma testi yapar. Dallar dikdörtgenler şeklinde olduğu için hesaplamada bu yöntem kullanılmıştır.</a:t>
              </a:r>
              <a:endParaRPr b="1">
                <a:solidFill>
                  <a:srgbClr val="3C4043"/>
                </a:solidFill>
                <a:latin typeface="Arial"/>
                <a:ea typeface="Arial"/>
                <a:cs typeface="Arial"/>
                <a:sym typeface="Arial"/>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id="331" name="Google Shape;331;p49" title="rectangle.png"/>
          <p:cNvPicPr preferRelativeResize="0"/>
          <p:nvPr/>
        </p:nvPicPr>
        <p:blipFill>
          <a:blip r:embed="rId3">
            <a:alphaModFix/>
          </a:blip>
          <a:stretch>
            <a:fillRect/>
          </a:stretch>
        </p:blipFill>
        <p:spPr>
          <a:xfrm>
            <a:off x="673463" y="1863524"/>
            <a:ext cx="7797074" cy="3213249"/>
          </a:xfrm>
          <a:prstGeom prst="rect">
            <a:avLst/>
          </a:prstGeom>
          <a:noFill/>
          <a:ln>
            <a:noFill/>
          </a:ln>
        </p:spPr>
      </p:pic>
      <p:grpSp>
        <p:nvGrpSpPr>
          <p:cNvPr id="332" name="Google Shape;332;p49"/>
          <p:cNvGrpSpPr/>
          <p:nvPr/>
        </p:nvGrpSpPr>
        <p:grpSpPr>
          <a:xfrm>
            <a:off x="152457" y="129900"/>
            <a:ext cx="8859578" cy="1794125"/>
            <a:chOff x="3938190" y="292975"/>
            <a:chExt cx="4286409" cy="1794125"/>
          </a:xfrm>
        </p:grpSpPr>
        <p:sp>
          <p:nvSpPr>
            <p:cNvPr id="333" name="Google Shape;333;p49"/>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Rectangle</a:t>
              </a:r>
              <a:endParaRPr b="1" sz="2380">
                <a:solidFill>
                  <a:srgbClr val="E91E63"/>
                </a:solidFill>
                <a:latin typeface="Courier New"/>
                <a:ea typeface="Courier New"/>
                <a:cs typeface="Courier New"/>
                <a:sym typeface="Courier New"/>
              </a:endParaRPr>
            </a:p>
          </p:txBody>
        </p:sp>
        <p:sp>
          <p:nvSpPr>
            <p:cNvPr id="334" name="Google Shape;334;p49"/>
            <p:cNvSpPr txBox="1"/>
            <p:nvPr/>
          </p:nvSpPr>
          <p:spPr>
            <a:xfrm>
              <a:off x="3938199" y="1140600"/>
              <a:ext cx="4286400" cy="946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Nesneyi ve nesnenin kabaca şeklini saklamak için vardır. İçinde nesnenin bütün noktalarını tutar. intersect metotu point sınıfındaki contains metotuna benzer bir şekilde çalışır.</a:t>
              </a:r>
              <a:endParaRPr b="1">
                <a:solidFill>
                  <a:srgbClr val="3C4043"/>
                </a:solidFill>
                <a:latin typeface="Arial"/>
                <a:ea typeface="Arial"/>
                <a:cs typeface="Arial"/>
                <a:sym typeface="Arial"/>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id="339" name="Google Shape;339;p50" title="collisionUpdate.png"/>
          <p:cNvPicPr preferRelativeResize="0"/>
          <p:nvPr/>
        </p:nvPicPr>
        <p:blipFill>
          <a:blip r:embed="rId3">
            <a:alphaModFix/>
          </a:blip>
          <a:stretch>
            <a:fillRect/>
          </a:stretch>
        </p:blipFill>
        <p:spPr>
          <a:xfrm>
            <a:off x="986200" y="2012400"/>
            <a:ext cx="7171601" cy="3031175"/>
          </a:xfrm>
          <a:prstGeom prst="rect">
            <a:avLst/>
          </a:prstGeom>
          <a:noFill/>
          <a:ln>
            <a:noFill/>
          </a:ln>
        </p:spPr>
      </p:pic>
      <p:grpSp>
        <p:nvGrpSpPr>
          <p:cNvPr id="340" name="Google Shape;340;p50"/>
          <p:cNvGrpSpPr/>
          <p:nvPr/>
        </p:nvGrpSpPr>
        <p:grpSpPr>
          <a:xfrm>
            <a:off x="152457" y="129900"/>
            <a:ext cx="8859566" cy="1466525"/>
            <a:chOff x="3938190" y="292975"/>
            <a:chExt cx="4286403" cy="1466525"/>
          </a:xfrm>
        </p:grpSpPr>
        <p:sp>
          <p:nvSpPr>
            <p:cNvPr id="341" name="Google Shape;341;p50"/>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update()</a:t>
              </a:r>
              <a:endParaRPr b="1" sz="2380">
                <a:solidFill>
                  <a:srgbClr val="E91E63"/>
                </a:solidFill>
                <a:latin typeface="Courier New"/>
                <a:ea typeface="Courier New"/>
                <a:cs typeface="Courier New"/>
                <a:sym typeface="Courier New"/>
              </a:endParaRPr>
            </a:p>
          </p:txBody>
        </p:sp>
        <p:sp>
          <p:nvSpPr>
            <p:cNvPr id="342" name="Google Shape;342;p50"/>
            <p:cNvSpPr txBox="1"/>
            <p:nvPr/>
          </p:nvSpPr>
          <p:spPr>
            <a:xfrm>
              <a:off x="3938193" y="1140600"/>
              <a:ext cx="4286400" cy="61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Bu metotta odanın sınırları belirlendikten sonra bu sınırlar içerisinde bir quadtree sınıfı oluşturulur. Nesneleri quadtree sınıfına yerleştirip çarpışma testini uygulamak için check metotu çalıştırılır.</a:t>
              </a:r>
              <a:endParaRPr b="1">
                <a:solidFill>
                  <a:srgbClr val="3C4043"/>
                </a:solidFill>
                <a:latin typeface="Arial"/>
                <a:ea typeface="Arial"/>
                <a:cs typeface="Arial"/>
                <a:sym typeface="Arial"/>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pic>
        <p:nvPicPr>
          <p:cNvPr id="347" name="Google Shape;347;p51" title="collisionCheck.png"/>
          <p:cNvPicPr preferRelativeResize="0"/>
          <p:nvPr/>
        </p:nvPicPr>
        <p:blipFill>
          <a:blip r:embed="rId3">
            <a:alphaModFix/>
          </a:blip>
          <a:stretch>
            <a:fillRect/>
          </a:stretch>
        </p:blipFill>
        <p:spPr>
          <a:xfrm>
            <a:off x="4474250" y="1160800"/>
            <a:ext cx="4515600" cy="3186975"/>
          </a:xfrm>
          <a:prstGeom prst="rect">
            <a:avLst/>
          </a:prstGeom>
          <a:noFill/>
          <a:ln>
            <a:noFill/>
          </a:ln>
        </p:spPr>
      </p:pic>
      <p:grpSp>
        <p:nvGrpSpPr>
          <p:cNvPr id="348" name="Google Shape;348;p51"/>
          <p:cNvGrpSpPr/>
          <p:nvPr/>
        </p:nvGrpSpPr>
        <p:grpSpPr>
          <a:xfrm>
            <a:off x="303050" y="1214375"/>
            <a:ext cx="3931269" cy="2368625"/>
            <a:chOff x="569165" y="353125"/>
            <a:chExt cx="4489800" cy="2368625"/>
          </a:xfrm>
        </p:grpSpPr>
        <p:sp>
          <p:nvSpPr>
            <p:cNvPr id="349" name="Google Shape;349;p51"/>
            <p:cNvSpPr txBox="1"/>
            <p:nvPr/>
          </p:nvSpPr>
          <p:spPr>
            <a:xfrm>
              <a:off x="569165" y="353125"/>
              <a:ext cx="44898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check</a:t>
              </a:r>
              <a:r>
                <a:rPr b="1" lang="tr" sz="2200">
                  <a:solidFill>
                    <a:srgbClr val="E91E63"/>
                  </a:solidFill>
                  <a:latin typeface="Courier New"/>
                  <a:ea typeface="Courier New"/>
                  <a:cs typeface="Courier New"/>
                  <a:sym typeface="Courier New"/>
                </a:rPr>
                <a:t>()</a:t>
              </a:r>
              <a:endParaRPr b="1" sz="2380">
                <a:solidFill>
                  <a:srgbClr val="E91E63"/>
                </a:solidFill>
                <a:latin typeface="Courier New"/>
                <a:ea typeface="Courier New"/>
                <a:cs typeface="Courier New"/>
                <a:sym typeface="Courier New"/>
              </a:endParaRPr>
            </a:p>
          </p:txBody>
        </p:sp>
        <p:sp>
          <p:nvSpPr>
            <p:cNvPr id="350" name="Google Shape;350;p51"/>
            <p:cNvSpPr txBox="1"/>
            <p:nvPr/>
          </p:nvSpPr>
          <p:spPr>
            <a:xfrm>
              <a:off x="569165" y="1200750"/>
              <a:ext cx="4489800" cy="152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Bütün nesneler alınır ve nesnelerin dış çerçeve değerleri sıfırlanır. Sonra bu nesneler quadtree sınıfına yerleştirilmek üzere insertEntity() metotuna yollanır. Quadtree’ye yerleştirilen nesneler arasındaki</a:t>
              </a:r>
              <a:r>
                <a:rPr b="1" lang="tr">
                  <a:solidFill>
                    <a:srgbClr val="3C4043"/>
                  </a:solidFill>
                  <a:latin typeface="Arial"/>
                  <a:ea typeface="Arial"/>
                  <a:cs typeface="Arial"/>
                  <a:sym typeface="Arial"/>
                </a:rPr>
                <a:t> olası çarpışmaları hesaplamak için  queryEntity() metotu çağrılır. </a:t>
              </a:r>
              <a:endParaRPr b="1">
                <a:solidFill>
                  <a:srgbClr val="3C4043"/>
                </a:solidFill>
                <a:latin typeface="Arial"/>
                <a:ea typeface="Arial"/>
                <a:cs typeface="Arial"/>
                <a:sym typeface="Aria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grpSp>
        <p:nvGrpSpPr>
          <p:cNvPr id="355" name="Google Shape;355;p52"/>
          <p:cNvGrpSpPr/>
          <p:nvPr/>
        </p:nvGrpSpPr>
        <p:grpSpPr>
          <a:xfrm>
            <a:off x="152457" y="129900"/>
            <a:ext cx="8859578" cy="4315025"/>
            <a:chOff x="3938190" y="292975"/>
            <a:chExt cx="4286409" cy="4315025"/>
          </a:xfrm>
        </p:grpSpPr>
        <p:sp>
          <p:nvSpPr>
            <p:cNvPr id="356" name="Google Shape;356;p52"/>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insertEntity</a:t>
              </a:r>
              <a:r>
                <a:rPr b="1" lang="tr" sz="2200">
                  <a:solidFill>
                    <a:srgbClr val="E91E63"/>
                  </a:solidFill>
                  <a:latin typeface="Courier New"/>
                  <a:ea typeface="Courier New"/>
                  <a:cs typeface="Courier New"/>
                  <a:sym typeface="Courier New"/>
                </a:rPr>
                <a:t>()</a:t>
              </a:r>
              <a:endParaRPr b="1" sz="2380">
                <a:solidFill>
                  <a:srgbClr val="E91E63"/>
                </a:solidFill>
                <a:latin typeface="Courier New"/>
                <a:ea typeface="Courier New"/>
                <a:cs typeface="Courier New"/>
                <a:sym typeface="Courier New"/>
              </a:endParaRPr>
            </a:p>
          </p:txBody>
        </p:sp>
        <p:sp>
          <p:nvSpPr>
            <p:cNvPr id="357" name="Google Shape;357;p52"/>
            <p:cNvSpPr txBox="1"/>
            <p:nvPr/>
          </p:nvSpPr>
          <p:spPr>
            <a:xfrm>
              <a:off x="3938199" y="1140600"/>
              <a:ext cx="4286400" cy="346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lang="tr">
                  <a:solidFill>
                    <a:srgbClr val="3C4043"/>
                  </a:solidFill>
                  <a:latin typeface="Arial"/>
                  <a:ea typeface="Arial"/>
                  <a:cs typeface="Arial"/>
                  <a:sym typeface="Arial"/>
                </a:rPr>
                <a:t>Nesneleri for döngüsüne alır. Önce aldığı nesnenin noktalarını hesaplar. Hesaplanan noktaları tekrar bir döngüye alır. Sırasıyla aldığı noktalar ile point sınıfı oluşturur. Oluşturulan point sınıfı quadtree’ye yollanır. Her bir nokta bir dizide saklanır. Bütün noktalar quadtree’ye yollandıktan sonra dizide saklanılan noktalar ile bir rect sınıfı oluşturulur. Bu sınıf noktaların birbiri ile iletişim kurması için çok önemlidir. Bu döngü nesneler bitene kadar tekrarlanır. Ayrıca bütün oluşturulan rect sınıfları queryEntity() metotunda kullanılmak üzere saklanır. rect ve point sınıfları nesnesinin referansını taşır.</a:t>
              </a:r>
              <a:endParaRPr b="1">
                <a:solidFill>
                  <a:srgbClr val="3C4043"/>
                </a:solidFill>
                <a:latin typeface="Arial"/>
                <a:ea typeface="Arial"/>
                <a:cs typeface="Arial"/>
                <a:sym typeface="Arial"/>
              </a:endParaRPr>
            </a:p>
            <a:p>
              <a:pPr indent="0" lvl="0" marL="0" rtl="0" algn="ctr">
                <a:spcBef>
                  <a:spcPts val="1125"/>
                </a:spcBef>
                <a:spcAft>
                  <a:spcPts val="1125"/>
                </a:spcAft>
                <a:buNone/>
              </a:pPr>
              <a:r>
                <a:t/>
              </a:r>
              <a:endParaRPr b="1">
                <a:solidFill>
                  <a:srgbClr val="3C4043"/>
                </a:solidFill>
                <a:latin typeface="Arial"/>
                <a:ea typeface="Arial"/>
                <a:cs typeface="Arial"/>
                <a:sym typeface="Aria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id="362" name="Google Shape;362;p53" title="collisionInsertEntity.png"/>
          <p:cNvPicPr preferRelativeResize="0"/>
          <p:nvPr/>
        </p:nvPicPr>
        <p:blipFill>
          <a:blip r:embed="rId3">
            <a:alphaModFix/>
          </a:blip>
          <a:stretch>
            <a:fillRect/>
          </a:stretch>
        </p:blipFill>
        <p:spPr>
          <a:xfrm>
            <a:off x="727451" y="197063"/>
            <a:ext cx="7689108" cy="474937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grpSp>
        <p:nvGrpSpPr>
          <p:cNvPr id="367" name="Google Shape;367;p54"/>
          <p:cNvGrpSpPr/>
          <p:nvPr/>
        </p:nvGrpSpPr>
        <p:grpSpPr>
          <a:xfrm>
            <a:off x="152457" y="129900"/>
            <a:ext cx="8859578" cy="4315025"/>
            <a:chOff x="3938190" y="292975"/>
            <a:chExt cx="4286409" cy="4315025"/>
          </a:xfrm>
        </p:grpSpPr>
        <p:sp>
          <p:nvSpPr>
            <p:cNvPr id="368" name="Google Shape;368;p54"/>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queryEntity</a:t>
              </a:r>
              <a:r>
                <a:rPr b="1" lang="tr" sz="2200">
                  <a:solidFill>
                    <a:srgbClr val="E91E63"/>
                  </a:solidFill>
                  <a:latin typeface="Courier New"/>
                  <a:ea typeface="Courier New"/>
                  <a:cs typeface="Courier New"/>
                  <a:sym typeface="Courier New"/>
                </a:rPr>
                <a:t>()</a:t>
              </a:r>
              <a:endParaRPr b="1" sz="2380">
                <a:solidFill>
                  <a:srgbClr val="E91E63"/>
                </a:solidFill>
                <a:latin typeface="Courier New"/>
                <a:ea typeface="Courier New"/>
                <a:cs typeface="Courier New"/>
                <a:sym typeface="Courier New"/>
              </a:endParaRPr>
            </a:p>
          </p:txBody>
        </p:sp>
        <p:sp>
          <p:nvSpPr>
            <p:cNvPr id="369" name="Google Shape;369;p54"/>
            <p:cNvSpPr txBox="1"/>
            <p:nvPr/>
          </p:nvSpPr>
          <p:spPr>
            <a:xfrm>
              <a:off x="3938199" y="1140600"/>
              <a:ext cx="4286400" cy="346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insertEntity() metotu ile oluşturulan ve saklanan rect sınıfı nesneler burada döngüye alınır. Quadtree’ye sırayla rect sınıfı ve boş bir dizi yollanır. Yollanan rect sınıfının alan bilgileri bütün quadtree dalları ile AABB çarpışma testine alınır. Eğer test sonucu çarpışma tespit edilirse alanın çarptığı dala bakılır. Daldaki bütün noktalar olası çarpışma testi için en başta gönderilen diziye eklenir. Sonra olası çarpışmalar bir for döngüsüne alınır. En başta alınan ve quadtree’ye yollanan rect sınıfının bağlı olduğu nesne ile bu döngüdeki rect sınıfının bağlı olduğu nesne SAT çarpışma testine alınır.</a:t>
              </a:r>
              <a:endParaRPr b="1">
                <a:solidFill>
                  <a:srgbClr val="3C4043"/>
                </a:solidFill>
                <a:latin typeface="Arial"/>
                <a:ea typeface="Arial"/>
                <a:cs typeface="Arial"/>
                <a:sym typeface="Arial"/>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pic>
        <p:nvPicPr>
          <p:cNvPr id="374" name="Google Shape;374;p55" title="collisionQueryEntity.png"/>
          <p:cNvPicPr preferRelativeResize="0"/>
          <p:nvPr/>
        </p:nvPicPr>
        <p:blipFill>
          <a:blip r:embed="rId3">
            <a:alphaModFix/>
          </a:blip>
          <a:stretch>
            <a:fillRect/>
          </a:stretch>
        </p:blipFill>
        <p:spPr>
          <a:xfrm>
            <a:off x="152400" y="152400"/>
            <a:ext cx="8756810" cy="483869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grpSp>
        <p:nvGrpSpPr>
          <p:cNvPr id="379" name="Google Shape;379;p56"/>
          <p:cNvGrpSpPr/>
          <p:nvPr/>
        </p:nvGrpSpPr>
        <p:grpSpPr>
          <a:xfrm>
            <a:off x="152457" y="129900"/>
            <a:ext cx="8859578" cy="4315025"/>
            <a:chOff x="3938190" y="292975"/>
            <a:chExt cx="4286409" cy="4315025"/>
          </a:xfrm>
        </p:grpSpPr>
        <p:sp>
          <p:nvSpPr>
            <p:cNvPr id="380" name="Google Shape;380;p56"/>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checkCollision</a:t>
              </a:r>
              <a:r>
                <a:rPr b="1" lang="tr" sz="2200">
                  <a:solidFill>
                    <a:srgbClr val="E91E63"/>
                  </a:solidFill>
                  <a:latin typeface="Courier New"/>
                  <a:ea typeface="Courier New"/>
                  <a:cs typeface="Courier New"/>
                  <a:sym typeface="Courier New"/>
                </a:rPr>
                <a:t>()</a:t>
              </a:r>
              <a:endParaRPr b="1" sz="2380">
                <a:solidFill>
                  <a:srgbClr val="E91E63"/>
                </a:solidFill>
                <a:latin typeface="Courier New"/>
                <a:ea typeface="Courier New"/>
                <a:cs typeface="Courier New"/>
                <a:sym typeface="Courier New"/>
              </a:endParaRPr>
            </a:p>
          </p:txBody>
        </p:sp>
        <p:sp>
          <p:nvSpPr>
            <p:cNvPr id="381" name="Google Shape;381;p56"/>
            <p:cNvSpPr txBox="1"/>
            <p:nvPr/>
          </p:nvSpPr>
          <p:spPr>
            <a:xfrm>
              <a:off x="3938199" y="1140600"/>
              <a:ext cx="4286400" cy="346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Burada çarpışma testine yollanan iki nesne önce AABB algoritmasına girer. Bunun sebebi SAT algoritmasının AABB algoritmasına göre daha maliyetli olmasıdır. </a:t>
              </a:r>
              <a:r>
                <a:rPr b="1" lang="tr">
                  <a:solidFill>
                    <a:srgbClr val="3C4043"/>
                  </a:solidFill>
                  <a:latin typeface="Arial"/>
                  <a:ea typeface="Arial"/>
                  <a:cs typeface="Arial"/>
                  <a:sym typeface="Arial"/>
                </a:rPr>
                <a:t>Eğer AABB bir çarpışma tespit edemezse direkt metottan çıkılır. Buraya takılmayan nesneler maliyetli olan SAT algoritmasına girer. Buradan alınan sonuç nesnelere yollanır ve kendi içlerinde işlenir.</a:t>
              </a:r>
              <a:endParaRPr b="1">
                <a:solidFill>
                  <a:srgbClr val="3C4043"/>
                </a:solidFill>
                <a:latin typeface="Arial"/>
                <a:ea typeface="Arial"/>
                <a:cs typeface="Arial"/>
                <a:sym typeface="Arial"/>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pic>
        <p:nvPicPr>
          <p:cNvPr id="386" name="Google Shape;386;p57" title="collisionCheckCollision.png"/>
          <p:cNvPicPr preferRelativeResize="0"/>
          <p:nvPr/>
        </p:nvPicPr>
        <p:blipFill>
          <a:blip r:embed="rId3">
            <a:alphaModFix/>
          </a:blip>
          <a:stretch>
            <a:fillRect/>
          </a:stretch>
        </p:blipFill>
        <p:spPr>
          <a:xfrm>
            <a:off x="152400" y="152400"/>
            <a:ext cx="8839198" cy="466293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grpSp>
        <p:nvGrpSpPr>
          <p:cNvPr id="391" name="Google Shape;391;p58"/>
          <p:cNvGrpSpPr/>
          <p:nvPr/>
        </p:nvGrpSpPr>
        <p:grpSpPr>
          <a:xfrm>
            <a:off x="152457" y="129900"/>
            <a:ext cx="8859578" cy="4315025"/>
            <a:chOff x="3938190" y="292975"/>
            <a:chExt cx="4286409" cy="4315025"/>
          </a:xfrm>
        </p:grpSpPr>
        <p:sp>
          <p:nvSpPr>
            <p:cNvPr id="392" name="Google Shape;392;p58"/>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AABB</a:t>
              </a:r>
              <a:endParaRPr b="1" sz="2380">
                <a:solidFill>
                  <a:srgbClr val="E91E63"/>
                </a:solidFill>
                <a:latin typeface="Courier New"/>
                <a:ea typeface="Courier New"/>
                <a:cs typeface="Courier New"/>
                <a:sym typeface="Courier New"/>
              </a:endParaRPr>
            </a:p>
          </p:txBody>
        </p:sp>
        <p:sp>
          <p:nvSpPr>
            <p:cNvPr id="393" name="Google Shape;393;p58"/>
            <p:cNvSpPr txBox="1"/>
            <p:nvPr/>
          </p:nvSpPr>
          <p:spPr>
            <a:xfrm>
              <a:off x="3938199" y="1140600"/>
              <a:ext cx="4286400" cy="346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Nesnelerin çarpışmalarını kabaca hesaplar. Bu kabaca hesap nedeniyle hesaplamaların ardından çarpışma bulunması sonucunda nesneler arası çarpışma kesin değildir. Fakat burada çarpışma bulunamazsa çarpışma yoktur. Bu yüzden SAT algoritmasına da gerek yoktur. Sınıfın aabb metotu çarpışmayı hesaplar. metot öncelikle nesnelerin kopyalarını alır. Alınan kopyalardan nesnelerin noktaları hesaplanır. Sonra bu noktaların minimum ve maksimum değerleri bulunarak rectangle ve point sınıfınlarındakine benzer bir işleme gönderilir. Bu hesabın çarpışmayı kesin bulabilmesinin nedeni de maksimum ve minimum noktalar kullanılarak hesaplanmasına dayanıyor.</a:t>
              </a:r>
              <a:endParaRPr b="1">
                <a:solidFill>
                  <a:srgbClr val="3C4043"/>
                </a:solidFill>
                <a:latin typeface="Arial"/>
                <a:ea typeface="Arial"/>
                <a:cs typeface="Arial"/>
                <a:sym typeface="Arial"/>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pic>
        <p:nvPicPr>
          <p:cNvPr id="398" name="Google Shape;398;p59" title="AABB.png"/>
          <p:cNvPicPr preferRelativeResize="0"/>
          <p:nvPr/>
        </p:nvPicPr>
        <p:blipFill>
          <a:blip r:embed="rId3">
            <a:alphaModFix/>
          </a:blip>
          <a:stretch>
            <a:fillRect/>
          </a:stretch>
        </p:blipFill>
        <p:spPr>
          <a:xfrm>
            <a:off x="152400" y="696488"/>
            <a:ext cx="8839197" cy="375051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grpSp>
        <p:nvGrpSpPr>
          <p:cNvPr id="403" name="Google Shape;403;p60"/>
          <p:cNvGrpSpPr/>
          <p:nvPr/>
        </p:nvGrpSpPr>
        <p:grpSpPr>
          <a:xfrm>
            <a:off x="174975" y="152400"/>
            <a:ext cx="8836827" cy="2828225"/>
            <a:chOff x="569163" y="353125"/>
            <a:chExt cx="4489801" cy="2828225"/>
          </a:xfrm>
        </p:grpSpPr>
        <p:sp>
          <p:nvSpPr>
            <p:cNvPr id="404" name="Google Shape;404;p60"/>
            <p:cNvSpPr txBox="1"/>
            <p:nvPr/>
          </p:nvSpPr>
          <p:spPr>
            <a:xfrm>
              <a:off x="569165" y="353125"/>
              <a:ext cx="44898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SAT(Seperating Axis Theorem)</a:t>
              </a:r>
              <a:endParaRPr b="1" sz="2380">
                <a:solidFill>
                  <a:srgbClr val="E91E63"/>
                </a:solidFill>
                <a:latin typeface="Courier New"/>
                <a:ea typeface="Courier New"/>
                <a:cs typeface="Courier New"/>
                <a:sym typeface="Courier New"/>
              </a:endParaRPr>
            </a:p>
          </p:txBody>
        </p:sp>
        <p:sp>
          <p:nvSpPr>
            <p:cNvPr id="405" name="Google Shape;405;p60"/>
            <p:cNvSpPr txBox="1"/>
            <p:nvPr/>
          </p:nvSpPr>
          <p:spPr>
            <a:xfrm>
              <a:off x="569163" y="1200750"/>
              <a:ext cx="4489800" cy="1980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tr">
                  <a:solidFill>
                    <a:srgbClr val="3C4043"/>
                  </a:solidFill>
                  <a:latin typeface="Arial"/>
                  <a:ea typeface="Arial"/>
                  <a:cs typeface="Arial"/>
                  <a:sym typeface="Arial"/>
                </a:rPr>
                <a:t>   Ayrık Eksen Teoremi dışbükey(convex) iki şeklin arasında boşluk arayan bir algoritmadır. Adından da anlaşılacağı gibi iki şeklin arasından bir doğru çekilebiliyorsa bu iki şekil çarpışmıyor demektir. Fakat şekillerin arasından hiçbir şekilde doğru çekilemiyorsa bu iki şekil çarpışıyor demektir. Çarpışma gerçekleştiğinde algoritma çarpışmadan kurtulmanın yolunu arar. Bu yolu bulabilmek için şekillerin bütün kenarlarını bir döngüye alır. Her bir kenarının önce orta noktasını bulur. Bulduğu noktanın eksenini hesaplar. Sonra bu eksene göre şekillerin bütün noktalarının izdüşümü hesaplanır. Her şekil için izdüşümünün minimum ve maksimum değerleri alınır. Alınan değerler arasında basit bir karşılaştırma yapılır ve kesişimin olup olmadığına bakılır. Kesişim değerinin en küçük olduğu eksen ve kesişim değeri geri döndürülür.</a:t>
              </a:r>
              <a:endParaRPr b="1">
                <a:solidFill>
                  <a:srgbClr val="3C4043"/>
                </a:solidFill>
                <a:latin typeface="Arial"/>
                <a:ea typeface="Arial"/>
                <a:cs typeface="Arial"/>
                <a:sym typeface="Arial"/>
              </a:endParaRPr>
            </a:p>
            <a:p>
              <a:pPr indent="0" lvl="0" marL="0" rtl="0" algn="ctr">
                <a:spcBef>
                  <a:spcPts val="1125"/>
                </a:spcBef>
                <a:spcAft>
                  <a:spcPts val="0"/>
                </a:spcAft>
                <a:buNone/>
              </a:pPr>
              <a:r>
                <a:t/>
              </a:r>
              <a:endParaRPr b="1">
                <a:solidFill>
                  <a:srgbClr val="3C4043"/>
                </a:solidFill>
                <a:latin typeface="Arial"/>
                <a:ea typeface="Arial"/>
                <a:cs typeface="Arial"/>
                <a:sym typeface="Arial"/>
              </a:endParaRPr>
            </a:p>
            <a:p>
              <a:pPr indent="0" lvl="0" marL="0" rtl="0" algn="l">
                <a:spcBef>
                  <a:spcPts val="1125"/>
                </a:spcBef>
                <a:spcAft>
                  <a:spcPts val="0"/>
                </a:spcAft>
                <a:buNone/>
              </a:pPr>
              <a:r>
                <a:rPr b="1" lang="tr">
                  <a:solidFill>
                    <a:srgbClr val="3C4043"/>
                  </a:solidFill>
                  <a:latin typeface="Arial"/>
                  <a:ea typeface="Arial"/>
                  <a:cs typeface="Arial"/>
                  <a:sym typeface="Arial"/>
                </a:rPr>
                <a:t>   intersectPolygons(), calculate(), calculateMtv() SAT sınıfının önemli metotlarıdır.</a:t>
              </a:r>
              <a:endParaRPr b="1">
                <a:solidFill>
                  <a:srgbClr val="3C4043"/>
                </a:solidFill>
                <a:latin typeface="Arial"/>
                <a:ea typeface="Arial"/>
                <a:cs typeface="Arial"/>
                <a:sym typeface="Arial"/>
              </a:endParaRPr>
            </a:p>
            <a:p>
              <a:pPr indent="0" lvl="0" marL="0" rtl="0" algn="ctr">
                <a:spcBef>
                  <a:spcPts val="1125"/>
                </a:spcBef>
                <a:spcAft>
                  <a:spcPts val="0"/>
                </a:spcAft>
                <a:buNone/>
              </a:pPr>
              <a:r>
                <a:t/>
              </a:r>
              <a:endParaRPr b="1">
                <a:solidFill>
                  <a:srgbClr val="3C4043"/>
                </a:solidFill>
                <a:latin typeface="Arial"/>
                <a:ea typeface="Arial"/>
                <a:cs typeface="Arial"/>
                <a:sym typeface="Arial"/>
              </a:endParaRPr>
            </a:p>
            <a:p>
              <a:pPr indent="0" lvl="0" marL="0" rtl="0" algn="ctr">
                <a:spcBef>
                  <a:spcPts val="1125"/>
                </a:spcBef>
                <a:spcAft>
                  <a:spcPts val="1125"/>
                </a:spcAft>
                <a:buNone/>
              </a:pPr>
              <a:r>
                <a:t/>
              </a:r>
              <a:endParaRPr b="1">
                <a:solidFill>
                  <a:srgbClr val="3C4043"/>
                </a:solidFill>
                <a:latin typeface="Arial"/>
                <a:ea typeface="Arial"/>
                <a:cs typeface="Arial"/>
                <a:sym typeface="Arial"/>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pic>
        <p:nvPicPr>
          <p:cNvPr id="410" name="Google Shape;410;p61" title="2772ca57bad69a7fa3e8c08b97581600.png"/>
          <p:cNvPicPr preferRelativeResize="0"/>
          <p:nvPr/>
        </p:nvPicPr>
        <p:blipFill>
          <a:blip r:embed="rId3">
            <a:alphaModFix/>
          </a:blip>
          <a:stretch>
            <a:fillRect/>
          </a:stretch>
        </p:blipFill>
        <p:spPr>
          <a:xfrm>
            <a:off x="2933700" y="1090600"/>
            <a:ext cx="3276600" cy="29622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grpSp>
        <p:nvGrpSpPr>
          <p:cNvPr id="415" name="Google Shape;415;p62"/>
          <p:cNvGrpSpPr/>
          <p:nvPr/>
        </p:nvGrpSpPr>
        <p:grpSpPr>
          <a:xfrm>
            <a:off x="152457" y="129900"/>
            <a:ext cx="8859578" cy="4315025"/>
            <a:chOff x="3938190" y="292975"/>
            <a:chExt cx="4286409" cy="4315025"/>
          </a:xfrm>
        </p:grpSpPr>
        <p:sp>
          <p:nvSpPr>
            <p:cNvPr id="416" name="Google Shape;416;p62"/>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intersectPolygons()</a:t>
              </a:r>
              <a:endParaRPr b="1" sz="2380">
                <a:solidFill>
                  <a:srgbClr val="E91E63"/>
                </a:solidFill>
                <a:latin typeface="Courier New"/>
                <a:ea typeface="Courier New"/>
                <a:cs typeface="Courier New"/>
                <a:sym typeface="Courier New"/>
              </a:endParaRPr>
            </a:p>
          </p:txBody>
        </p:sp>
        <p:sp>
          <p:nvSpPr>
            <p:cNvPr id="417" name="Google Shape;417;p62"/>
            <p:cNvSpPr txBox="1"/>
            <p:nvPr/>
          </p:nvSpPr>
          <p:spPr>
            <a:xfrm>
              <a:off x="3938199" y="1140600"/>
              <a:ext cx="4286400" cy="346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SAT çarpışmasının yapıldığı ana metottur. Parametre olarak a nesnesi, b nesnesi ve sabit köşe bilgisi alınır. A nesnesinin şu anki pozisyonu alınır. Bir de hızına bağlı olarak tahmin edilen sonraki yenilemede ulaşacağı pozisyonu alınır. Bu pozisyonların farkı hesaplanır ve return anahtarı ile geri döndürülür. Sonra bu fark ile nesnenin tahmin edilen yeni boyutu kullanılarak adım aralığı hesaplama işlemi yapılır. Hesaplanan aralık calculate() metotuna diğer parametrelerle birlikte yollanır ve burada asıl çarpışma testi yapılır. Bu metottan geri döndürülen değer false ise nesneler arası çarpışma gerçekleşmiyor demektir. Döndürülen değer false değilse çarpışma vardır ve bu değer minAxis,minOverlap bilgilerini içerir. minAxis değişkeni  minimum eksen bilgisini, minOverlap ise minimum kesişim değerini tutar.</a:t>
              </a:r>
              <a:endParaRPr b="1">
                <a:solidFill>
                  <a:srgbClr val="3C4043"/>
                </a:solidFill>
                <a:latin typeface="Arial"/>
                <a:ea typeface="Arial"/>
                <a:cs typeface="Arial"/>
                <a:sym typeface="Arial"/>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id="422" name="Google Shape;422;p63" title="sat.png"/>
          <p:cNvPicPr preferRelativeResize="0"/>
          <p:nvPr/>
        </p:nvPicPr>
        <p:blipFill>
          <a:blip r:embed="rId3">
            <a:alphaModFix/>
          </a:blip>
          <a:stretch>
            <a:fillRect/>
          </a:stretch>
        </p:blipFill>
        <p:spPr>
          <a:xfrm>
            <a:off x="2353338" y="152400"/>
            <a:ext cx="4437334" cy="4838701"/>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grpSp>
        <p:nvGrpSpPr>
          <p:cNvPr id="427" name="Google Shape;427;p64"/>
          <p:cNvGrpSpPr/>
          <p:nvPr/>
        </p:nvGrpSpPr>
        <p:grpSpPr>
          <a:xfrm>
            <a:off x="152457" y="129900"/>
            <a:ext cx="8859578" cy="4315025"/>
            <a:chOff x="3938190" y="292975"/>
            <a:chExt cx="4286409" cy="4315025"/>
          </a:xfrm>
        </p:grpSpPr>
        <p:sp>
          <p:nvSpPr>
            <p:cNvPr id="428" name="Google Shape;428;p64"/>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calculate</a:t>
              </a:r>
              <a:r>
                <a:rPr b="1" lang="tr" sz="2200">
                  <a:solidFill>
                    <a:srgbClr val="E91E63"/>
                  </a:solidFill>
                  <a:latin typeface="Courier New"/>
                  <a:ea typeface="Courier New"/>
                  <a:cs typeface="Courier New"/>
                  <a:sym typeface="Courier New"/>
                </a:rPr>
                <a:t>()</a:t>
              </a:r>
              <a:endParaRPr b="1" sz="2380">
                <a:solidFill>
                  <a:srgbClr val="E91E63"/>
                </a:solidFill>
                <a:latin typeface="Courier New"/>
                <a:ea typeface="Courier New"/>
                <a:cs typeface="Courier New"/>
                <a:sym typeface="Courier New"/>
              </a:endParaRPr>
            </a:p>
          </p:txBody>
        </p:sp>
        <p:sp>
          <p:nvSpPr>
            <p:cNvPr id="429" name="Google Shape;429;p64"/>
            <p:cNvSpPr txBox="1"/>
            <p:nvPr/>
          </p:nvSpPr>
          <p:spPr>
            <a:xfrm>
              <a:off x="3938199" y="1140600"/>
              <a:ext cx="4286400" cy="346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A nesnesinin matrisinin bir kopyası alınır. Alınan kopya matrisi hesaplanan subStep değerleri ile her bir döngüde arttırılır. Bu matris B nesnesinin matrisi ile birlikte minAxis ve minOverlap değerleri bulabilmesi için checkSat metotuna yollanır.</a:t>
              </a:r>
              <a:endParaRPr b="1">
                <a:solidFill>
                  <a:srgbClr val="3C4043"/>
                </a:solidFill>
                <a:latin typeface="Arial"/>
                <a:ea typeface="Arial"/>
                <a:cs typeface="Arial"/>
                <a:sym typeface="Arial"/>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pic>
        <p:nvPicPr>
          <p:cNvPr id="434" name="Google Shape;434;p65" title="collisionCalculate.png"/>
          <p:cNvPicPr preferRelativeResize="0"/>
          <p:nvPr/>
        </p:nvPicPr>
        <p:blipFill>
          <a:blip r:embed="rId3">
            <a:alphaModFix/>
          </a:blip>
          <a:stretch>
            <a:fillRect/>
          </a:stretch>
        </p:blipFill>
        <p:spPr>
          <a:xfrm>
            <a:off x="938788" y="152400"/>
            <a:ext cx="7266423" cy="483870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pic>
        <p:nvPicPr>
          <p:cNvPr id="439" name="Google Shape;439;p66" title="collisionCheckSat.png"/>
          <p:cNvPicPr preferRelativeResize="0"/>
          <p:nvPr/>
        </p:nvPicPr>
        <p:blipFill>
          <a:blip r:embed="rId3">
            <a:alphaModFix/>
          </a:blip>
          <a:stretch>
            <a:fillRect/>
          </a:stretch>
        </p:blipFill>
        <p:spPr>
          <a:xfrm>
            <a:off x="1406750" y="152400"/>
            <a:ext cx="6330506" cy="4838701"/>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grpSp>
        <p:nvGrpSpPr>
          <p:cNvPr id="444" name="Google Shape;444;p67"/>
          <p:cNvGrpSpPr/>
          <p:nvPr/>
        </p:nvGrpSpPr>
        <p:grpSpPr>
          <a:xfrm>
            <a:off x="152457" y="129900"/>
            <a:ext cx="8859578" cy="1572125"/>
            <a:chOff x="3938190" y="292975"/>
            <a:chExt cx="4286409" cy="1572125"/>
          </a:xfrm>
        </p:grpSpPr>
        <p:sp>
          <p:nvSpPr>
            <p:cNvPr id="445" name="Google Shape;445;p67"/>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calculateMtv</a:t>
              </a:r>
              <a:r>
                <a:rPr b="1" lang="tr" sz="2200">
                  <a:solidFill>
                    <a:srgbClr val="E91E63"/>
                  </a:solidFill>
                  <a:latin typeface="Courier New"/>
                  <a:ea typeface="Courier New"/>
                  <a:cs typeface="Courier New"/>
                  <a:sym typeface="Courier New"/>
                </a:rPr>
                <a:t>()</a:t>
              </a:r>
              <a:endParaRPr b="1" sz="2380">
                <a:solidFill>
                  <a:srgbClr val="E91E63"/>
                </a:solidFill>
                <a:latin typeface="Courier New"/>
                <a:ea typeface="Courier New"/>
                <a:cs typeface="Courier New"/>
                <a:sym typeface="Courier New"/>
              </a:endParaRPr>
            </a:p>
          </p:txBody>
        </p:sp>
        <p:sp>
          <p:nvSpPr>
            <p:cNvPr id="446" name="Google Shape;446;p67"/>
            <p:cNvSpPr txBox="1"/>
            <p:nvPr/>
          </p:nvSpPr>
          <p:spPr>
            <a:xfrm>
              <a:off x="3938199" y="1140600"/>
              <a:ext cx="4286400" cy="724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Nesneler arası çarpışma bulunduktan ve minAxis, minOverlap gibi değerler hesaplandıktan sonra yapılması gereken bir diğer şey bu çarpışmayı düzeltmek olacaktır. Minimum Değişim Vektörü(Minimum Translation Vector) nesnelerin birbirlerinden kurtulması için gereken taşınma miktarını hesaplar. </a:t>
              </a:r>
              <a:endParaRPr b="1">
                <a:solidFill>
                  <a:srgbClr val="3C4043"/>
                </a:solidFill>
                <a:latin typeface="Arial"/>
                <a:ea typeface="Arial"/>
                <a:cs typeface="Arial"/>
                <a:sym typeface="Arial"/>
              </a:endParaRPr>
            </a:p>
          </p:txBody>
        </p:sp>
      </p:grpSp>
      <p:pic>
        <p:nvPicPr>
          <p:cNvPr id="447" name="Google Shape;447;p67" title="calculateMtv.png"/>
          <p:cNvPicPr preferRelativeResize="0"/>
          <p:nvPr/>
        </p:nvPicPr>
        <p:blipFill>
          <a:blip r:embed="rId3">
            <a:alphaModFix/>
          </a:blip>
          <a:stretch>
            <a:fillRect/>
          </a:stretch>
        </p:blipFill>
        <p:spPr>
          <a:xfrm>
            <a:off x="1514250" y="2008950"/>
            <a:ext cx="6135974" cy="29936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grpSp>
        <p:nvGrpSpPr>
          <p:cNvPr id="452" name="Google Shape;452;p68"/>
          <p:cNvGrpSpPr/>
          <p:nvPr/>
        </p:nvGrpSpPr>
        <p:grpSpPr>
          <a:xfrm>
            <a:off x="152467" y="129900"/>
            <a:ext cx="4320023" cy="2667725"/>
            <a:chOff x="3938191" y="292975"/>
            <a:chExt cx="2059802" cy="2667725"/>
          </a:xfrm>
        </p:grpSpPr>
        <p:sp>
          <p:nvSpPr>
            <p:cNvPr id="453" name="Google Shape;453;p68"/>
            <p:cNvSpPr txBox="1"/>
            <p:nvPr/>
          </p:nvSpPr>
          <p:spPr>
            <a:xfrm>
              <a:off x="3938193" y="292975"/>
              <a:ext cx="20598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4. Renderer</a:t>
              </a:r>
              <a:endParaRPr b="1" sz="2380">
                <a:solidFill>
                  <a:srgbClr val="E91E63"/>
                </a:solidFill>
                <a:latin typeface="Courier New"/>
                <a:ea typeface="Courier New"/>
                <a:cs typeface="Courier New"/>
                <a:sym typeface="Courier New"/>
              </a:endParaRPr>
            </a:p>
          </p:txBody>
        </p:sp>
        <p:sp>
          <p:nvSpPr>
            <p:cNvPr id="454" name="Google Shape;454;p68"/>
            <p:cNvSpPr txBox="1"/>
            <p:nvPr/>
          </p:nvSpPr>
          <p:spPr>
            <a:xfrm>
              <a:off x="3938191" y="1140600"/>
              <a:ext cx="2059800" cy="1820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Bütün çizimlerin yapıldığı sınıftır. İhtiyacı olan verileri alır ve gölgelendirmeleri(shader) kullanarak ekran kartına bu verileri istenilen şekilde yollanır.</a:t>
              </a:r>
              <a:endParaRPr b="1">
                <a:solidFill>
                  <a:srgbClr val="3C4043"/>
                </a:solidFill>
                <a:latin typeface="Arial"/>
                <a:ea typeface="Arial"/>
                <a:cs typeface="Arial"/>
                <a:sym typeface="Arial"/>
              </a:endParaRPr>
            </a:p>
          </p:txBody>
        </p:sp>
      </p:grpSp>
      <p:pic>
        <p:nvPicPr>
          <p:cNvPr id="455" name="Google Shape;455;p68" title="renderer.png"/>
          <p:cNvPicPr preferRelativeResize="0"/>
          <p:nvPr/>
        </p:nvPicPr>
        <p:blipFill>
          <a:blip r:embed="rId3">
            <a:alphaModFix/>
          </a:blip>
          <a:stretch>
            <a:fillRect/>
          </a:stretch>
        </p:blipFill>
        <p:spPr>
          <a:xfrm>
            <a:off x="4517350" y="64949"/>
            <a:ext cx="4548830" cy="5013601"/>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pic>
        <p:nvPicPr>
          <p:cNvPr id="460" name="Google Shape;460;p69" title="renderer2.png"/>
          <p:cNvPicPr preferRelativeResize="0"/>
          <p:nvPr/>
        </p:nvPicPr>
        <p:blipFill>
          <a:blip r:embed="rId3">
            <a:alphaModFix/>
          </a:blip>
          <a:stretch>
            <a:fillRect/>
          </a:stretch>
        </p:blipFill>
        <p:spPr>
          <a:xfrm>
            <a:off x="1838688" y="152400"/>
            <a:ext cx="5466626" cy="4838702"/>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pic>
        <p:nvPicPr>
          <p:cNvPr id="465" name="Google Shape;465;p70" title="shader.png"/>
          <p:cNvPicPr preferRelativeResize="0"/>
          <p:nvPr/>
        </p:nvPicPr>
        <p:blipFill>
          <a:blip r:embed="rId3">
            <a:alphaModFix/>
          </a:blip>
          <a:stretch>
            <a:fillRect/>
          </a:stretch>
        </p:blipFill>
        <p:spPr>
          <a:xfrm>
            <a:off x="152400" y="152400"/>
            <a:ext cx="3738457" cy="4838699"/>
          </a:xfrm>
          <a:prstGeom prst="rect">
            <a:avLst/>
          </a:prstGeom>
          <a:noFill/>
          <a:ln>
            <a:noFill/>
          </a:ln>
        </p:spPr>
      </p:pic>
      <p:pic>
        <p:nvPicPr>
          <p:cNvPr id="466" name="Google Shape;466;p70" title="shader2.png"/>
          <p:cNvPicPr preferRelativeResize="0"/>
          <p:nvPr/>
        </p:nvPicPr>
        <p:blipFill>
          <a:blip r:embed="rId4">
            <a:alphaModFix/>
          </a:blip>
          <a:stretch>
            <a:fillRect/>
          </a:stretch>
        </p:blipFill>
        <p:spPr>
          <a:xfrm>
            <a:off x="4034807" y="736663"/>
            <a:ext cx="4948343" cy="367017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grpSp>
        <p:nvGrpSpPr>
          <p:cNvPr id="471" name="Google Shape;471;p71"/>
          <p:cNvGrpSpPr/>
          <p:nvPr/>
        </p:nvGrpSpPr>
        <p:grpSpPr>
          <a:xfrm>
            <a:off x="198350" y="720950"/>
            <a:ext cx="3148283" cy="1850825"/>
            <a:chOff x="3938196" y="493325"/>
            <a:chExt cx="5209801" cy="1850825"/>
          </a:xfrm>
        </p:grpSpPr>
        <p:sp>
          <p:nvSpPr>
            <p:cNvPr id="472" name="Google Shape;472;p71"/>
            <p:cNvSpPr txBox="1"/>
            <p:nvPr/>
          </p:nvSpPr>
          <p:spPr>
            <a:xfrm>
              <a:off x="3938198" y="493325"/>
              <a:ext cx="52098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tr" sz="2200">
                  <a:solidFill>
                    <a:srgbClr val="E91E63"/>
                  </a:solidFill>
                  <a:latin typeface="Courier New"/>
                  <a:ea typeface="Courier New"/>
                  <a:cs typeface="Courier New"/>
                  <a:sym typeface="Courier New"/>
                </a:rPr>
                <a:t>5. Entity</a:t>
              </a:r>
              <a:endParaRPr b="1" sz="2380">
                <a:solidFill>
                  <a:srgbClr val="E91E63"/>
                </a:solidFill>
                <a:latin typeface="Courier New"/>
                <a:ea typeface="Courier New"/>
                <a:cs typeface="Courier New"/>
                <a:sym typeface="Courier New"/>
              </a:endParaRPr>
            </a:p>
          </p:txBody>
        </p:sp>
        <p:sp>
          <p:nvSpPr>
            <p:cNvPr id="473" name="Google Shape;473;p71"/>
            <p:cNvSpPr txBox="1"/>
            <p:nvPr/>
          </p:nvSpPr>
          <p:spPr>
            <a:xfrm>
              <a:off x="3938196" y="1340950"/>
              <a:ext cx="5209800" cy="1003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Player, Camera, Asset, Enemy, Ability gibi sınıfları içinde barındırır. Bu sınıfların işlemlerini yapabildiği ortak bir alandır.</a:t>
              </a:r>
              <a:endParaRPr b="1">
                <a:solidFill>
                  <a:srgbClr val="3C4043"/>
                </a:solidFill>
                <a:latin typeface="Arial"/>
                <a:ea typeface="Arial"/>
                <a:cs typeface="Arial"/>
                <a:sym typeface="Arial"/>
              </a:endParaRPr>
            </a:p>
          </p:txBody>
        </p:sp>
      </p:grpSp>
      <p:pic>
        <p:nvPicPr>
          <p:cNvPr id="474" name="Google Shape;474;p71" title="entityConstructor.png"/>
          <p:cNvPicPr preferRelativeResize="0"/>
          <p:nvPr/>
        </p:nvPicPr>
        <p:blipFill>
          <a:blip r:embed="rId3">
            <a:alphaModFix/>
          </a:blip>
          <a:stretch>
            <a:fillRect/>
          </a:stretch>
        </p:blipFill>
        <p:spPr>
          <a:xfrm>
            <a:off x="3570700" y="720950"/>
            <a:ext cx="5451551" cy="370157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pic>
        <p:nvPicPr>
          <p:cNvPr id="479" name="Google Shape;479;p72" title="entityUpdate.png"/>
          <p:cNvPicPr preferRelativeResize="0"/>
          <p:nvPr/>
        </p:nvPicPr>
        <p:blipFill>
          <a:blip r:embed="rId3">
            <a:alphaModFix/>
          </a:blip>
          <a:stretch>
            <a:fillRect/>
          </a:stretch>
        </p:blipFill>
        <p:spPr>
          <a:xfrm>
            <a:off x="1864002" y="1890050"/>
            <a:ext cx="5416000" cy="3141276"/>
          </a:xfrm>
          <a:prstGeom prst="rect">
            <a:avLst/>
          </a:prstGeom>
          <a:noFill/>
          <a:ln>
            <a:noFill/>
          </a:ln>
        </p:spPr>
      </p:pic>
      <p:grpSp>
        <p:nvGrpSpPr>
          <p:cNvPr id="480" name="Google Shape;480;p72"/>
          <p:cNvGrpSpPr/>
          <p:nvPr/>
        </p:nvGrpSpPr>
        <p:grpSpPr>
          <a:xfrm>
            <a:off x="152457" y="129900"/>
            <a:ext cx="8859578" cy="1572125"/>
            <a:chOff x="3938190" y="292975"/>
            <a:chExt cx="4286409" cy="1572125"/>
          </a:xfrm>
        </p:grpSpPr>
        <p:sp>
          <p:nvSpPr>
            <p:cNvPr id="481" name="Google Shape;481;p72"/>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update()</a:t>
              </a:r>
              <a:endParaRPr b="1" sz="2380">
                <a:solidFill>
                  <a:srgbClr val="E91E63"/>
                </a:solidFill>
                <a:latin typeface="Courier New"/>
                <a:ea typeface="Courier New"/>
                <a:cs typeface="Courier New"/>
                <a:sym typeface="Courier New"/>
              </a:endParaRPr>
            </a:p>
          </p:txBody>
        </p:sp>
        <p:sp>
          <p:nvSpPr>
            <p:cNvPr id="482" name="Google Shape;482;p72"/>
            <p:cNvSpPr txBox="1"/>
            <p:nvPr/>
          </p:nvSpPr>
          <p:spPr>
            <a:xfrm>
              <a:off x="3938199" y="1140600"/>
              <a:ext cx="4286400" cy="724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1125"/>
                </a:spcAft>
                <a:buNone/>
              </a:pPr>
              <a:r>
                <a:rPr b="1" lang="tr">
                  <a:solidFill>
                    <a:srgbClr val="3C4043"/>
                  </a:solidFill>
                  <a:latin typeface="Arial"/>
                  <a:ea typeface="Arial"/>
                  <a:cs typeface="Arial"/>
                  <a:sym typeface="Arial"/>
                </a:rPr>
                <a:t>Eğer oda değişmişse odanın içeriğine uygun nesneleri yükler. Ayrıca her yenilemede bütün nesnelerin update() metotunu çağırır.</a:t>
              </a:r>
              <a:endParaRPr b="1">
                <a:solidFill>
                  <a:srgbClr val="3C4043"/>
                </a:solidFill>
                <a:latin typeface="Arial"/>
                <a:ea typeface="Arial"/>
                <a:cs typeface="Arial"/>
                <a:sym typeface="Arial"/>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pic>
        <p:nvPicPr>
          <p:cNvPr id="487" name="Google Shape;487;p73" title="entityLoadEntity.png"/>
          <p:cNvPicPr preferRelativeResize="0"/>
          <p:nvPr/>
        </p:nvPicPr>
        <p:blipFill>
          <a:blip r:embed="rId3">
            <a:alphaModFix/>
          </a:blip>
          <a:stretch>
            <a:fillRect/>
          </a:stretch>
        </p:blipFill>
        <p:spPr>
          <a:xfrm>
            <a:off x="1221538" y="1841777"/>
            <a:ext cx="6700927" cy="3233075"/>
          </a:xfrm>
          <a:prstGeom prst="rect">
            <a:avLst/>
          </a:prstGeom>
          <a:noFill/>
          <a:ln>
            <a:noFill/>
          </a:ln>
        </p:spPr>
      </p:pic>
      <p:grpSp>
        <p:nvGrpSpPr>
          <p:cNvPr id="488" name="Google Shape;488;p73"/>
          <p:cNvGrpSpPr/>
          <p:nvPr/>
        </p:nvGrpSpPr>
        <p:grpSpPr>
          <a:xfrm>
            <a:off x="152457" y="56700"/>
            <a:ext cx="8859578" cy="1785125"/>
            <a:chOff x="3938190" y="219775"/>
            <a:chExt cx="4286409" cy="1785125"/>
          </a:xfrm>
        </p:grpSpPr>
        <p:sp>
          <p:nvSpPr>
            <p:cNvPr id="489" name="Google Shape;489;p73"/>
            <p:cNvSpPr txBox="1"/>
            <p:nvPr/>
          </p:nvSpPr>
          <p:spPr>
            <a:xfrm>
              <a:off x="3938190" y="2197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loadEntity</a:t>
              </a:r>
              <a:r>
                <a:rPr b="1" lang="tr" sz="2200">
                  <a:solidFill>
                    <a:srgbClr val="E91E63"/>
                  </a:solidFill>
                  <a:latin typeface="Courier New"/>
                  <a:ea typeface="Courier New"/>
                  <a:cs typeface="Courier New"/>
                  <a:sym typeface="Courier New"/>
                </a:rPr>
                <a:t>()</a:t>
              </a:r>
              <a:endParaRPr b="1" sz="2380">
                <a:solidFill>
                  <a:srgbClr val="E91E63"/>
                </a:solidFill>
                <a:latin typeface="Courier New"/>
                <a:ea typeface="Courier New"/>
                <a:cs typeface="Courier New"/>
                <a:sym typeface="Courier New"/>
              </a:endParaRPr>
            </a:p>
          </p:txBody>
        </p:sp>
        <p:sp>
          <p:nvSpPr>
            <p:cNvPr id="490" name="Google Shape;490;p73"/>
            <p:cNvSpPr txBox="1"/>
            <p:nvPr/>
          </p:nvSpPr>
          <p:spPr>
            <a:xfrm>
              <a:off x="3938199" y="1067400"/>
              <a:ext cx="4286400" cy="937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Oda değiştiğinde yeni oda bilgisindeki nesneleri bir döngüye sokar. Önce döngünün doku ve durum bilgilerini JSON dosyalarından çeker. Sonra nesnenin tipine göre çağırma yapar. Son olarak updateEntityData() metotu ile sınıf kendi değişkenlerini düzenler ve bütün nesneleri init() metotu ile başlatır.</a:t>
              </a:r>
              <a:endParaRPr b="1">
                <a:solidFill>
                  <a:srgbClr val="3C4043"/>
                </a:solidFill>
                <a:latin typeface="Arial"/>
                <a:ea typeface="Arial"/>
                <a:cs typeface="Arial"/>
                <a:sym typeface="Arial"/>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grpSp>
        <p:nvGrpSpPr>
          <p:cNvPr id="495" name="Google Shape;495;p74"/>
          <p:cNvGrpSpPr/>
          <p:nvPr/>
        </p:nvGrpSpPr>
        <p:grpSpPr>
          <a:xfrm>
            <a:off x="152457" y="129900"/>
            <a:ext cx="8859578" cy="1572125"/>
            <a:chOff x="3938190" y="292975"/>
            <a:chExt cx="4286409" cy="1572125"/>
          </a:xfrm>
        </p:grpSpPr>
        <p:sp>
          <p:nvSpPr>
            <p:cNvPr id="496" name="Google Shape;496;p74"/>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Nesne Objeleri</a:t>
              </a:r>
              <a:endParaRPr b="1" sz="2380">
                <a:solidFill>
                  <a:srgbClr val="E91E63"/>
                </a:solidFill>
                <a:latin typeface="Courier New"/>
                <a:ea typeface="Courier New"/>
                <a:cs typeface="Courier New"/>
                <a:sym typeface="Courier New"/>
              </a:endParaRPr>
            </a:p>
          </p:txBody>
        </p:sp>
        <p:sp>
          <p:nvSpPr>
            <p:cNvPr id="497" name="Google Shape;497;p74"/>
            <p:cNvSpPr txBox="1"/>
            <p:nvPr/>
          </p:nvSpPr>
          <p:spPr>
            <a:xfrm>
              <a:off x="3938199" y="1140600"/>
              <a:ext cx="4286400" cy="724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Bu objeler oluşturulan oyun nesnelerinin bilgilerini tutacak ana sınıflardır. Hemen hemen bu nesneler aynı bilgileri tutacak olsa da olacak farklılıklar için kendi objeleri bulunmaktadır. Bunun için nesne objelerinin de ana sınıfı vardır. assetObject ve abilityObject bu nesne sınıflarından bazılarıdır.</a:t>
              </a:r>
              <a:endParaRPr b="1">
                <a:solidFill>
                  <a:srgbClr val="3C4043"/>
                </a:solidFill>
                <a:latin typeface="Arial"/>
                <a:ea typeface="Arial"/>
                <a:cs typeface="Arial"/>
                <a:sym typeface="Arial"/>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pic>
        <p:nvPicPr>
          <p:cNvPr id="502" name="Google Shape;502;p75" title="abilityObject.png"/>
          <p:cNvPicPr preferRelativeResize="0"/>
          <p:nvPr/>
        </p:nvPicPr>
        <p:blipFill>
          <a:blip r:embed="rId3">
            <a:alphaModFix/>
          </a:blip>
          <a:stretch>
            <a:fillRect/>
          </a:stretch>
        </p:blipFill>
        <p:spPr>
          <a:xfrm>
            <a:off x="1943075" y="152400"/>
            <a:ext cx="5257860" cy="4838702"/>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pic>
        <p:nvPicPr>
          <p:cNvPr id="507" name="Google Shape;507;p76" title="abilityObject.png"/>
          <p:cNvPicPr preferRelativeResize="0"/>
          <p:nvPr/>
        </p:nvPicPr>
        <p:blipFill>
          <a:blip r:embed="rId3">
            <a:alphaModFix/>
          </a:blip>
          <a:stretch>
            <a:fillRect/>
          </a:stretch>
        </p:blipFill>
        <p:spPr>
          <a:xfrm>
            <a:off x="1943075" y="152400"/>
            <a:ext cx="5257860" cy="483870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pic>
        <p:nvPicPr>
          <p:cNvPr id="512" name="Google Shape;512;p77" title="entityObject.png"/>
          <p:cNvPicPr preferRelativeResize="0"/>
          <p:nvPr/>
        </p:nvPicPr>
        <p:blipFill>
          <a:blip r:embed="rId3">
            <a:alphaModFix/>
          </a:blip>
          <a:stretch>
            <a:fillRect/>
          </a:stretch>
        </p:blipFill>
        <p:spPr>
          <a:xfrm>
            <a:off x="2345175" y="152400"/>
            <a:ext cx="4453658" cy="4838701"/>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grpSp>
        <p:nvGrpSpPr>
          <p:cNvPr id="517" name="Google Shape;517;p78"/>
          <p:cNvGrpSpPr/>
          <p:nvPr/>
        </p:nvGrpSpPr>
        <p:grpSpPr>
          <a:xfrm>
            <a:off x="152457" y="129900"/>
            <a:ext cx="8859578" cy="1572125"/>
            <a:chOff x="3938190" y="292975"/>
            <a:chExt cx="4286409" cy="1572125"/>
          </a:xfrm>
        </p:grpSpPr>
        <p:sp>
          <p:nvSpPr>
            <p:cNvPr id="518" name="Google Shape;518;p78"/>
            <p:cNvSpPr txBox="1"/>
            <p:nvPr/>
          </p:nvSpPr>
          <p:spPr>
            <a:xfrm>
              <a:off x="3938190" y="292975"/>
              <a:ext cx="4286400" cy="72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tr" sz="2200">
                  <a:solidFill>
                    <a:srgbClr val="E91E63"/>
                  </a:solidFill>
                  <a:latin typeface="Courier New"/>
                  <a:ea typeface="Courier New"/>
                  <a:cs typeface="Courier New"/>
                  <a:sym typeface="Courier New"/>
                </a:rPr>
                <a:t>MAT4</a:t>
              </a:r>
              <a:endParaRPr b="1" sz="2380">
                <a:solidFill>
                  <a:srgbClr val="E91E63"/>
                </a:solidFill>
                <a:latin typeface="Courier New"/>
                <a:ea typeface="Courier New"/>
                <a:cs typeface="Courier New"/>
                <a:sym typeface="Courier New"/>
              </a:endParaRPr>
            </a:p>
          </p:txBody>
        </p:sp>
        <p:sp>
          <p:nvSpPr>
            <p:cNvPr id="519" name="Google Shape;519;p78"/>
            <p:cNvSpPr txBox="1"/>
            <p:nvPr/>
          </p:nvSpPr>
          <p:spPr>
            <a:xfrm>
              <a:off x="3938199" y="1140600"/>
              <a:ext cx="4286400" cy="724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1" lang="tr">
                  <a:solidFill>
                    <a:srgbClr val="3C4043"/>
                  </a:solidFill>
                  <a:latin typeface="Arial"/>
                  <a:ea typeface="Arial"/>
                  <a:cs typeface="Arial"/>
                  <a:sym typeface="Arial"/>
                </a:rPr>
                <a:t>Nesnelerin pozisyon, boyut gibi bilgileri matrisler aracılığıyla saklanır ve işlenir. identity(), scale(), translate(), ortho() bu işlemlerden bazılarıdır.</a:t>
              </a:r>
              <a:endParaRPr b="1">
                <a:solidFill>
                  <a:srgbClr val="3C4043"/>
                </a:solidFill>
                <a:latin typeface="Arial"/>
                <a:ea typeface="Arial"/>
                <a:cs typeface="Arial"/>
                <a:sym typeface="Arial"/>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pic>
        <p:nvPicPr>
          <p:cNvPr id="524" name="Google Shape;524;p79" title="mat4Identity.png"/>
          <p:cNvPicPr preferRelativeResize="0"/>
          <p:nvPr/>
        </p:nvPicPr>
        <p:blipFill>
          <a:blip r:embed="rId3">
            <a:alphaModFix/>
          </a:blip>
          <a:stretch>
            <a:fillRect/>
          </a:stretch>
        </p:blipFill>
        <p:spPr>
          <a:xfrm>
            <a:off x="152400" y="152400"/>
            <a:ext cx="4373966" cy="4838700"/>
          </a:xfrm>
          <a:prstGeom prst="rect">
            <a:avLst/>
          </a:prstGeom>
          <a:noFill/>
          <a:ln>
            <a:noFill/>
          </a:ln>
        </p:spPr>
      </p:pic>
      <p:pic>
        <p:nvPicPr>
          <p:cNvPr id="525" name="Google Shape;525;p79" title="mat4Ortho.png"/>
          <p:cNvPicPr preferRelativeResize="0"/>
          <p:nvPr/>
        </p:nvPicPr>
        <p:blipFill>
          <a:blip r:embed="rId4">
            <a:alphaModFix/>
          </a:blip>
          <a:stretch>
            <a:fillRect/>
          </a:stretch>
        </p:blipFill>
        <p:spPr>
          <a:xfrm>
            <a:off x="4678766" y="152400"/>
            <a:ext cx="4190496" cy="4838699"/>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pic>
        <p:nvPicPr>
          <p:cNvPr id="530" name="Google Shape;530;p80" title="mat4Scale.png"/>
          <p:cNvPicPr preferRelativeResize="0"/>
          <p:nvPr/>
        </p:nvPicPr>
        <p:blipFill>
          <a:blip r:embed="rId3">
            <a:alphaModFix/>
          </a:blip>
          <a:stretch>
            <a:fillRect/>
          </a:stretch>
        </p:blipFill>
        <p:spPr>
          <a:xfrm>
            <a:off x="152400" y="465475"/>
            <a:ext cx="4343275" cy="4212523"/>
          </a:xfrm>
          <a:prstGeom prst="rect">
            <a:avLst/>
          </a:prstGeom>
          <a:noFill/>
          <a:ln>
            <a:noFill/>
          </a:ln>
        </p:spPr>
      </p:pic>
      <p:pic>
        <p:nvPicPr>
          <p:cNvPr id="531" name="Google Shape;531;p80" title="mat4Translate.png"/>
          <p:cNvPicPr preferRelativeResize="0"/>
          <p:nvPr/>
        </p:nvPicPr>
        <p:blipFill>
          <a:blip r:embed="rId4">
            <a:alphaModFix/>
          </a:blip>
          <a:stretch>
            <a:fillRect/>
          </a:stretch>
        </p:blipFill>
        <p:spPr>
          <a:xfrm>
            <a:off x="4648325" y="465475"/>
            <a:ext cx="4343275" cy="4212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